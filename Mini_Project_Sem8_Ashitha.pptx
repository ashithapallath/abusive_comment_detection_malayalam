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Lst>
  <p:notesMasterIdLst>
    <p:notesMasterId r:id="rId16"/>
  </p:notesMasterIdLst>
  <p:sldIdLst>
    <p:sldId id="256" r:id="rId2"/>
    <p:sldId id="258" r:id="rId3"/>
    <p:sldId id="260" r:id="rId4"/>
    <p:sldId id="313" r:id="rId5"/>
    <p:sldId id="263" r:id="rId6"/>
    <p:sldId id="264" r:id="rId7"/>
    <p:sldId id="314" r:id="rId8"/>
    <p:sldId id="320" r:id="rId9"/>
    <p:sldId id="315" r:id="rId10"/>
    <p:sldId id="268" r:id="rId11"/>
    <p:sldId id="316" r:id="rId12"/>
    <p:sldId id="317" r:id="rId13"/>
    <p:sldId id="318" r:id="rId14"/>
    <p:sldId id="319" r:id="rId15"/>
  </p:sldIdLst>
  <p:sldSz cx="9144000" cy="5143500" type="screen16x9"/>
  <p:notesSz cx="6858000" cy="9144000"/>
  <p:embeddedFontLst>
    <p:embeddedFont>
      <p:font typeface="Anaheim" panose="020B0604020202020204" charset="0"/>
      <p:regular r:id="rId17"/>
      <p:bold r:id="rId18"/>
    </p:embeddedFont>
    <p:embeddedFont>
      <p:font typeface="Archivo Black" panose="020B0604020202020204" charset="0"/>
      <p:regular r:id="rId19"/>
    </p:embeddedFont>
    <p:embeddedFont>
      <p:font typeface="Bebas Neue" panose="020B0606020202050201" pitchFamily="34" charset="0"/>
      <p:regular r:id="rId20"/>
    </p:embeddedFont>
    <p:embeddedFont>
      <p:font typeface="Questrial" pitchFamily="2" charset="0"/>
      <p:regular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93">
          <p15:clr>
            <a:srgbClr val="9AA0A6"/>
          </p15:clr>
        </p15:guide>
        <p15:guide id="2" pos="451">
          <p15:clr>
            <a:srgbClr val="9AA0A6"/>
          </p15:clr>
        </p15:guide>
        <p15:guide id="3" orient="horz" pos="340">
          <p15:clr>
            <a:srgbClr val="9AA0A6"/>
          </p15:clr>
        </p15:guide>
        <p15:guide id="4" pos="5311">
          <p15:clr>
            <a:srgbClr val="9AA0A6"/>
          </p15:clr>
        </p15:guide>
        <p15:guide id="5" orient="horz" pos="2895">
          <p15:clr>
            <a:srgbClr val="9AA0A6"/>
          </p15:clr>
        </p15:guide>
        <p15:guide id="6" orient="horz" pos="916">
          <p15:clr>
            <a:srgbClr val="9AA0A6"/>
          </p15:clr>
        </p15:guide>
        <p15:guide id="7" orient="horz" pos="648">
          <p15:clr>
            <a:srgbClr val="9AA0A6"/>
          </p15:clr>
        </p15:guide>
        <p15:guide id="8" orient="horz" pos="1239">
          <p15:clr>
            <a:srgbClr val="9AA0A6"/>
          </p15:clr>
        </p15:guide>
        <p15:guide id="9" orient="horz" pos="2994">
          <p15:clr>
            <a:srgbClr val="9AA0A6"/>
          </p15:clr>
        </p15:guide>
        <p15:guide id="10" orient="horz" pos="2992">
          <p15:clr>
            <a:srgbClr val="9AA0A6"/>
          </p15:clr>
        </p15:guide>
        <p15:guide id="11" pos="1458">
          <p15:clr>
            <a:srgbClr val="FFFF00"/>
          </p15:clr>
        </p15:guide>
        <p15:guide id="12" pos="1368">
          <p15:clr>
            <a:srgbClr val="FFFF00"/>
          </p15:clr>
        </p15:guide>
        <p15:guide id="13" pos="534">
          <p15:clr>
            <a:srgbClr val="FFFF00"/>
          </p15:clr>
        </p15:guide>
        <p15:guide id="14" orient="horz">
          <p15:clr>
            <a:srgbClr val="9AA0A6"/>
          </p15:clr>
        </p15:guide>
        <p15:guide id="15" orient="horz" pos="1257">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BF71787-2092-4FA9-809F-38EFA0FBDA39}">
  <a:tblStyle styleId="{2BF71787-2092-4FA9-809F-38EFA0FBDA3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BA9D3E6-E7DA-4C6B-861A-9ED7FB7EB2D1}"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9" d="100"/>
          <a:sy n="99" d="100"/>
        </p:scale>
        <p:origin x="340" y="52"/>
      </p:cViewPr>
      <p:guideLst>
        <p:guide orient="horz" pos="593"/>
        <p:guide pos="451"/>
        <p:guide orient="horz" pos="340"/>
        <p:guide pos="5311"/>
        <p:guide orient="horz" pos="2895"/>
        <p:guide orient="horz" pos="916"/>
        <p:guide orient="horz" pos="648"/>
        <p:guide orient="horz" pos="1239"/>
        <p:guide orient="horz" pos="2994"/>
        <p:guide orient="horz" pos="2992"/>
        <p:guide pos="1458"/>
        <p:guide pos="1368"/>
        <p:guide pos="534"/>
        <p:guide orient="horz"/>
        <p:guide orient="horz" pos="125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1d0e0937f8e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1d0e0937f8e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a:extLst>
            <a:ext uri="{FF2B5EF4-FFF2-40B4-BE49-F238E27FC236}">
              <a16:creationId xmlns:a16="http://schemas.microsoft.com/office/drawing/2014/main" id="{39BB1DC4-7723-C69A-74C3-682A913336B0}"/>
            </a:ext>
          </a:extLst>
        </p:cNvPr>
        <p:cNvGrpSpPr/>
        <p:nvPr/>
      </p:nvGrpSpPr>
      <p:grpSpPr>
        <a:xfrm>
          <a:off x="0" y="0"/>
          <a:ext cx="0" cy="0"/>
          <a:chOff x="0" y="0"/>
          <a:chExt cx="0" cy="0"/>
        </a:xfrm>
      </p:grpSpPr>
      <p:sp>
        <p:nvSpPr>
          <p:cNvPr id="339" name="Google Shape;339;g54dda1946d_6_308:notes">
            <a:extLst>
              <a:ext uri="{FF2B5EF4-FFF2-40B4-BE49-F238E27FC236}">
                <a16:creationId xmlns:a16="http://schemas.microsoft.com/office/drawing/2014/main" id="{6D0D0682-EB57-0AAE-E973-05725E081D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54dda1946d_6_308:notes">
            <a:extLst>
              <a:ext uri="{FF2B5EF4-FFF2-40B4-BE49-F238E27FC236}">
                <a16:creationId xmlns:a16="http://schemas.microsoft.com/office/drawing/2014/main" id="{3CF4038A-E91F-A6DB-4259-A495E3580A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55796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3" name="Google Shape;373;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a:extLst>
            <a:ext uri="{FF2B5EF4-FFF2-40B4-BE49-F238E27FC236}">
              <a16:creationId xmlns:a16="http://schemas.microsoft.com/office/drawing/2014/main" id="{0687723D-A3DB-02D9-F283-C5D8073D314C}"/>
            </a:ext>
          </a:extLst>
        </p:cNvPr>
        <p:cNvGrpSpPr/>
        <p:nvPr/>
      </p:nvGrpSpPr>
      <p:grpSpPr>
        <a:xfrm>
          <a:off x="0" y="0"/>
          <a:ext cx="0" cy="0"/>
          <a:chOff x="0" y="0"/>
          <a:chExt cx="0" cy="0"/>
        </a:xfrm>
      </p:grpSpPr>
      <p:sp>
        <p:nvSpPr>
          <p:cNvPr id="339" name="Google Shape;339;g54dda1946d_6_308:notes">
            <a:extLst>
              <a:ext uri="{FF2B5EF4-FFF2-40B4-BE49-F238E27FC236}">
                <a16:creationId xmlns:a16="http://schemas.microsoft.com/office/drawing/2014/main" id="{51B6C8DB-9995-A223-EC25-E0D280E9A2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54dda1946d_6_308:notes">
            <a:extLst>
              <a:ext uri="{FF2B5EF4-FFF2-40B4-BE49-F238E27FC236}">
                <a16:creationId xmlns:a16="http://schemas.microsoft.com/office/drawing/2014/main" id="{24D6DAC5-C434-4BD1-D3B7-0941D15CE4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693825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a:extLst>
            <a:ext uri="{FF2B5EF4-FFF2-40B4-BE49-F238E27FC236}">
              <a16:creationId xmlns:a16="http://schemas.microsoft.com/office/drawing/2014/main" id="{9B7F1F36-DB2D-FE7A-C921-8B81A36D5375}"/>
            </a:ext>
          </a:extLst>
        </p:cNvPr>
        <p:cNvGrpSpPr/>
        <p:nvPr/>
      </p:nvGrpSpPr>
      <p:grpSpPr>
        <a:xfrm>
          <a:off x="0" y="0"/>
          <a:ext cx="0" cy="0"/>
          <a:chOff x="0" y="0"/>
          <a:chExt cx="0" cy="0"/>
        </a:xfrm>
      </p:grpSpPr>
      <p:sp>
        <p:nvSpPr>
          <p:cNvPr id="339" name="Google Shape;339;g54dda1946d_6_308:notes">
            <a:extLst>
              <a:ext uri="{FF2B5EF4-FFF2-40B4-BE49-F238E27FC236}">
                <a16:creationId xmlns:a16="http://schemas.microsoft.com/office/drawing/2014/main" id="{48405932-9BB4-4584-754E-25C24A9353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54dda1946d_6_308:notes">
            <a:extLst>
              <a:ext uri="{FF2B5EF4-FFF2-40B4-BE49-F238E27FC236}">
                <a16:creationId xmlns:a16="http://schemas.microsoft.com/office/drawing/2014/main" id="{C685032B-6456-BE22-D92C-8D528DDF9E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2542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a:extLst>
            <a:ext uri="{FF2B5EF4-FFF2-40B4-BE49-F238E27FC236}">
              <a16:creationId xmlns:a16="http://schemas.microsoft.com/office/drawing/2014/main" id="{BC6CFB19-A88D-C94C-9847-EE34617EB6D5}"/>
            </a:ext>
          </a:extLst>
        </p:cNvPr>
        <p:cNvGrpSpPr/>
        <p:nvPr/>
      </p:nvGrpSpPr>
      <p:grpSpPr>
        <a:xfrm>
          <a:off x="0" y="0"/>
          <a:ext cx="0" cy="0"/>
          <a:chOff x="0" y="0"/>
          <a:chExt cx="0" cy="0"/>
        </a:xfrm>
      </p:grpSpPr>
      <p:sp>
        <p:nvSpPr>
          <p:cNvPr id="401" name="Google Shape;401;g54dda1946d_6_344:notes">
            <a:extLst>
              <a:ext uri="{FF2B5EF4-FFF2-40B4-BE49-F238E27FC236}">
                <a16:creationId xmlns:a16="http://schemas.microsoft.com/office/drawing/2014/main" id="{AA39C3D3-4ABB-0A33-15AE-7477D844FB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54dda1946d_6_344:notes">
            <a:extLst>
              <a:ext uri="{FF2B5EF4-FFF2-40B4-BE49-F238E27FC236}">
                <a16:creationId xmlns:a16="http://schemas.microsoft.com/office/drawing/2014/main" id="{9FD31CA3-7737-ADBB-5FFD-57635CA184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81760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54dda1946d_6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54dda1946d_6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a:extLst>
            <a:ext uri="{FF2B5EF4-FFF2-40B4-BE49-F238E27FC236}">
              <a16:creationId xmlns:a16="http://schemas.microsoft.com/office/drawing/2014/main" id="{152C2025-728E-3B94-84DE-FAA67887A94C}"/>
            </a:ext>
          </a:extLst>
        </p:cNvPr>
        <p:cNvGrpSpPr/>
        <p:nvPr/>
      </p:nvGrpSpPr>
      <p:grpSpPr>
        <a:xfrm>
          <a:off x="0" y="0"/>
          <a:ext cx="0" cy="0"/>
          <a:chOff x="0" y="0"/>
          <a:chExt cx="0" cy="0"/>
        </a:xfrm>
      </p:grpSpPr>
      <p:sp>
        <p:nvSpPr>
          <p:cNvPr id="464" name="Google Shape;464;g54dda1946d_4_2738:notes">
            <a:extLst>
              <a:ext uri="{FF2B5EF4-FFF2-40B4-BE49-F238E27FC236}">
                <a16:creationId xmlns:a16="http://schemas.microsoft.com/office/drawing/2014/main" id="{6093DE4C-8BB4-B344-DA37-D40958C2DE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54dda1946d_4_2738:notes">
            <a:extLst>
              <a:ext uri="{FF2B5EF4-FFF2-40B4-BE49-F238E27FC236}">
                <a16:creationId xmlns:a16="http://schemas.microsoft.com/office/drawing/2014/main" id="{1728A1BC-44AF-F2C4-A502-6C1E384EE1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77840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a:extLst>
            <a:ext uri="{FF2B5EF4-FFF2-40B4-BE49-F238E27FC236}">
              <a16:creationId xmlns:a16="http://schemas.microsoft.com/office/drawing/2014/main" id="{CCBC3ABE-23AF-E78B-846D-A11F8AD662E4}"/>
            </a:ext>
          </a:extLst>
        </p:cNvPr>
        <p:cNvGrpSpPr/>
        <p:nvPr/>
      </p:nvGrpSpPr>
      <p:grpSpPr>
        <a:xfrm>
          <a:off x="0" y="0"/>
          <a:ext cx="0" cy="0"/>
          <a:chOff x="0" y="0"/>
          <a:chExt cx="0" cy="0"/>
        </a:xfrm>
      </p:grpSpPr>
      <p:sp>
        <p:nvSpPr>
          <p:cNvPr id="464" name="Google Shape;464;g54dda1946d_4_2738:notes">
            <a:extLst>
              <a:ext uri="{FF2B5EF4-FFF2-40B4-BE49-F238E27FC236}">
                <a16:creationId xmlns:a16="http://schemas.microsoft.com/office/drawing/2014/main" id="{8110B710-1881-4ECD-0246-6011D45777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54dda1946d_4_2738:notes">
            <a:extLst>
              <a:ext uri="{FF2B5EF4-FFF2-40B4-BE49-F238E27FC236}">
                <a16:creationId xmlns:a16="http://schemas.microsoft.com/office/drawing/2014/main" id="{C401A9EC-CEF7-DA49-EE7A-BC2B59A258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87498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a:extLst>
            <a:ext uri="{FF2B5EF4-FFF2-40B4-BE49-F238E27FC236}">
              <a16:creationId xmlns:a16="http://schemas.microsoft.com/office/drawing/2014/main" id="{090BF888-6933-0FCE-0D9F-FD7B979575F9}"/>
            </a:ext>
          </a:extLst>
        </p:cNvPr>
        <p:cNvGrpSpPr/>
        <p:nvPr/>
      </p:nvGrpSpPr>
      <p:grpSpPr>
        <a:xfrm>
          <a:off x="0" y="0"/>
          <a:ext cx="0" cy="0"/>
          <a:chOff x="0" y="0"/>
          <a:chExt cx="0" cy="0"/>
        </a:xfrm>
      </p:grpSpPr>
      <p:sp>
        <p:nvSpPr>
          <p:cNvPr id="464" name="Google Shape;464;g54dda1946d_4_2738:notes">
            <a:extLst>
              <a:ext uri="{FF2B5EF4-FFF2-40B4-BE49-F238E27FC236}">
                <a16:creationId xmlns:a16="http://schemas.microsoft.com/office/drawing/2014/main" id="{13CC944E-C25B-DA36-3CD3-27316CBEF6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54dda1946d_4_2738:notes">
            <a:extLst>
              <a:ext uri="{FF2B5EF4-FFF2-40B4-BE49-F238E27FC236}">
                <a16:creationId xmlns:a16="http://schemas.microsoft.com/office/drawing/2014/main" id="{F9745D1B-CD6A-A666-63FE-E5AB1C13D1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22285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a:extLst>
            <a:ext uri="{FF2B5EF4-FFF2-40B4-BE49-F238E27FC236}">
              <a16:creationId xmlns:a16="http://schemas.microsoft.com/office/drawing/2014/main" id="{7FE584CB-4103-CC61-B008-1C543DE3F9A4}"/>
            </a:ext>
          </a:extLst>
        </p:cNvPr>
        <p:cNvGrpSpPr/>
        <p:nvPr/>
      </p:nvGrpSpPr>
      <p:grpSpPr>
        <a:xfrm>
          <a:off x="0" y="0"/>
          <a:ext cx="0" cy="0"/>
          <a:chOff x="0" y="0"/>
          <a:chExt cx="0" cy="0"/>
        </a:xfrm>
      </p:grpSpPr>
      <p:sp>
        <p:nvSpPr>
          <p:cNvPr id="484" name="Google Shape;484;g54dda1946d_6_377:notes">
            <a:extLst>
              <a:ext uri="{FF2B5EF4-FFF2-40B4-BE49-F238E27FC236}">
                <a16:creationId xmlns:a16="http://schemas.microsoft.com/office/drawing/2014/main" id="{FC19FFE1-A9D8-8ECE-114A-EBC04FEF44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54dda1946d_6_377:notes">
            <a:extLst>
              <a:ext uri="{FF2B5EF4-FFF2-40B4-BE49-F238E27FC236}">
                <a16:creationId xmlns:a16="http://schemas.microsoft.com/office/drawing/2014/main" id="{224EBFFE-62F0-93BB-F380-3861AC513A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43909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581739"/>
            <a:ext cx="4396500" cy="2463900"/>
          </a:xfrm>
          <a:prstGeom prst="rect">
            <a:avLst/>
          </a:prstGeom>
        </p:spPr>
        <p:txBody>
          <a:bodyPr spcFirstLastPara="1" wrap="square" lIns="91425" tIns="91425" rIns="91425" bIns="91425" anchor="t" anchorCtr="0">
            <a:noAutofit/>
          </a:bodyPr>
          <a:lstStyle>
            <a:lvl1pPr lvl="0">
              <a:spcBef>
                <a:spcPts val="0"/>
              </a:spcBef>
              <a:spcAft>
                <a:spcPts val="0"/>
              </a:spcAft>
              <a:buSzPts val="5200"/>
              <a:buNone/>
              <a:defRPr sz="5000" b="1">
                <a:latin typeface="Archivo Black"/>
                <a:ea typeface="Archivo Black"/>
                <a:cs typeface="Archivo Black"/>
                <a:sym typeface="Archivo Black"/>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13225" y="3549228"/>
            <a:ext cx="4161300" cy="458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700">
                <a:latin typeface="Questrial"/>
                <a:ea typeface="Questrial"/>
                <a:cs typeface="Questrial"/>
                <a:sym typeface="Questria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a:spLocks noGrp="1"/>
          </p:cNvSpPr>
          <p:nvPr>
            <p:ph type="pic" idx="2"/>
          </p:nvPr>
        </p:nvSpPr>
        <p:spPr>
          <a:xfrm>
            <a:off x="-9250" y="3049050"/>
            <a:ext cx="9144000" cy="2094600"/>
          </a:xfrm>
          <a:prstGeom prst="rect">
            <a:avLst/>
          </a:prstGeom>
          <a:noFill/>
          <a:ln>
            <a:noFill/>
          </a:ln>
        </p:spPr>
      </p:sp>
      <p:sp>
        <p:nvSpPr>
          <p:cNvPr id="13" name="Google Shape;13;p3"/>
          <p:cNvSpPr txBox="1">
            <a:spLocks noGrp="1"/>
          </p:cNvSpPr>
          <p:nvPr>
            <p:ph type="title"/>
          </p:nvPr>
        </p:nvSpPr>
        <p:spPr>
          <a:xfrm>
            <a:off x="2184000" y="529975"/>
            <a:ext cx="4633800" cy="1531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title" idx="3" hasCustomPrompt="1"/>
          </p:nvPr>
        </p:nvSpPr>
        <p:spPr>
          <a:xfrm>
            <a:off x="725000" y="842538"/>
            <a:ext cx="1334400" cy="1108800"/>
          </a:xfrm>
          <a:prstGeom prst="rect">
            <a:avLst/>
          </a:prstGeom>
          <a:noFill/>
        </p:spPr>
        <p:txBody>
          <a:bodyPr spcFirstLastPara="1" wrap="square" lIns="91425" tIns="91425" rIns="91425" bIns="91425" anchor="t" anchorCtr="0">
            <a:noAutofit/>
          </a:bodyPr>
          <a:lstStyle>
            <a:lvl1pPr lvl="0"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5" name="Google Shape;15;p3"/>
          <p:cNvSpPr txBox="1">
            <a:spLocks noGrp="1"/>
          </p:cNvSpPr>
          <p:nvPr>
            <p:ph type="subTitle" idx="1"/>
          </p:nvPr>
        </p:nvSpPr>
        <p:spPr>
          <a:xfrm>
            <a:off x="2184000" y="2422375"/>
            <a:ext cx="4633800" cy="37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7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a:spLocks noGrp="1"/>
          </p:cNvSpPr>
          <p:nvPr>
            <p:ph type="pic" idx="2"/>
          </p:nvPr>
        </p:nvSpPr>
        <p:spPr>
          <a:xfrm>
            <a:off x="-18900" y="-9525"/>
            <a:ext cx="9181800" cy="1733700"/>
          </a:xfrm>
          <a:prstGeom prst="rect">
            <a:avLst/>
          </a:prstGeom>
          <a:noFill/>
          <a:ln>
            <a:noFill/>
          </a:ln>
        </p:spPr>
      </p:sp>
      <p:sp>
        <p:nvSpPr>
          <p:cNvPr id="44" name="Google Shape;44;p8"/>
          <p:cNvSpPr txBox="1">
            <a:spLocks noGrp="1"/>
          </p:cNvSpPr>
          <p:nvPr>
            <p:ph type="title"/>
          </p:nvPr>
        </p:nvSpPr>
        <p:spPr>
          <a:xfrm>
            <a:off x="999850" y="2260813"/>
            <a:ext cx="7144200" cy="22866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62"/>
        <p:cNvGrpSpPr/>
        <p:nvPr/>
      </p:nvGrpSpPr>
      <p:grpSpPr>
        <a:xfrm>
          <a:off x="0" y="0"/>
          <a:ext cx="0" cy="0"/>
          <a:chOff x="0" y="0"/>
          <a:chExt cx="0" cy="0"/>
        </a:xfrm>
      </p:grpSpPr>
      <p:sp>
        <p:nvSpPr>
          <p:cNvPr id="63" name="Google Shape;63;p13"/>
          <p:cNvSpPr txBox="1">
            <a:spLocks noGrp="1"/>
          </p:cNvSpPr>
          <p:nvPr>
            <p:ph type="subTitle" idx="1"/>
          </p:nvPr>
        </p:nvSpPr>
        <p:spPr>
          <a:xfrm>
            <a:off x="6124325" y="2000892"/>
            <a:ext cx="23055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700" b="1"/>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4" name="Google Shape;64;p13"/>
          <p:cNvSpPr txBox="1">
            <a:spLocks noGrp="1"/>
          </p:cNvSpPr>
          <p:nvPr>
            <p:ph type="subTitle" idx="2"/>
          </p:nvPr>
        </p:nvSpPr>
        <p:spPr>
          <a:xfrm>
            <a:off x="6124325" y="3310542"/>
            <a:ext cx="23055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700" b="1"/>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5" name="Google Shape;65;p13"/>
          <p:cNvSpPr txBox="1">
            <a:spLocks noGrp="1"/>
          </p:cNvSpPr>
          <p:nvPr>
            <p:ph type="title"/>
          </p:nvPr>
        </p:nvSpPr>
        <p:spPr>
          <a:xfrm>
            <a:off x="720000" y="539202"/>
            <a:ext cx="7716600" cy="7509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6" name="Google Shape;66;p13"/>
          <p:cNvSpPr txBox="1">
            <a:spLocks noGrp="1"/>
          </p:cNvSpPr>
          <p:nvPr>
            <p:ph type="subTitle" idx="3"/>
          </p:nvPr>
        </p:nvSpPr>
        <p:spPr>
          <a:xfrm>
            <a:off x="2757875" y="2289892"/>
            <a:ext cx="2305500" cy="57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7" name="Google Shape;67;p13"/>
          <p:cNvSpPr txBox="1">
            <a:spLocks noGrp="1"/>
          </p:cNvSpPr>
          <p:nvPr>
            <p:ph type="subTitle" idx="4"/>
          </p:nvPr>
        </p:nvSpPr>
        <p:spPr>
          <a:xfrm>
            <a:off x="6124323" y="2289892"/>
            <a:ext cx="2305500" cy="57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8" name="Google Shape;68;p13"/>
          <p:cNvSpPr txBox="1">
            <a:spLocks noGrp="1"/>
          </p:cNvSpPr>
          <p:nvPr>
            <p:ph type="subTitle" idx="5"/>
          </p:nvPr>
        </p:nvSpPr>
        <p:spPr>
          <a:xfrm>
            <a:off x="2757875" y="3599467"/>
            <a:ext cx="2305500" cy="57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9" name="Google Shape;69;p13"/>
          <p:cNvSpPr txBox="1">
            <a:spLocks noGrp="1"/>
          </p:cNvSpPr>
          <p:nvPr>
            <p:ph type="subTitle" idx="6"/>
          </p:nvPr>
        </p:nvSpPr>
        <p:spPr>
          <a:xfrm>
            <a:off x="6124323" y="3599467"/>
            <a:ext cx="2305500" cy="57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0" name="Google Shape;70;p13"/>
          <p:cNvSpPr txBox="1">
            <a:spLocks noGrp="1"/>
          </p:cNvSpPr>
          <p:nvPr>
            <p:ph type="title" idx="7" hasCustomPrompt="1"/>
          </p:nvPr>
        </p:nvSpPr>
        <p:spPr>
          <a:xfrm>
            <a:off x="1989875" y="1948717"/>
            <a:ext cx="768000" cy="5796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3000"/>
              <a:buNone/>
              <a:defRPr sz="3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1" name="Google Shape;71;p13"/>
          <p:cNvSpPr txBox="1">
            <a:spLocks noGrp="1"/>
          </p:cNvSpPr>
          <p:nvPr>
            <p:ph type="title" idx="8" hasCustomPrompt="1"/>
          </p:nvPr>
        </p:nvSpPr>
        <p:spPr>
          <a:xfrm>
            <a:off x="1989875" y="3259067"/>
            <a:ext cx="768000" cy="5856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3000"/>
              <a:buNone/>
              <a:defRPr sz="3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2" name="Google Shape;72;p13"/>
          <p:cNvSpPr txBox="1">
            <a:spLocks noGrp="1"/>
          </p:cNvSpPr>
          <p:nvPr>
            <p:ph type="title" idx="9" hasCustomPrompt="1"/>
          </p:nvPr>
        </p:nvSpPr>
        <p:spPr>
          <a:xfrm>
            <a:off x="5356826" y="1954838"/>
            <a:ext cx="768000" cy="579600"/>
          </a:xfrm>
          <a:prstGeom prst="rect">
            <a:avLst/>
          </a:prstGeom>
          <a:noFill/>
          <a:ln>
            <a:noFill/>
          </a:ln>
        </p:spPr>
        <p:txBody>
          <a:bodyPr spcFirstLastPara="1" wrap="square" lIns="91425" tIns="91425" rIns="91425" bIns="91425" anchor="ctr" anchorCtr="0">
            <a:noAutofit/>
          </a:bodyPr>
          <a:lstStyle>
            <a:lvl1pPr lvl="0" algn="r" rtl="0">
              <a:spcBef>
                <a:spcPts val="0"/>
              </a:spcBef>
              <a:spcAft>
                <a:spcPts val="0"/>
              </a:spcAft>
              <a:buSzPts val="3000"/>
              <a:buNone/>
              <a:defRPr sz="3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3" name="Google Shape;73;p13"/>
          <p:cNvSpPr txBox="1">
            <a:spLocks noGrp="1"/>
          </p:cNvSpPr>
          <p:nvPr>
            <p:ph type="title" idx="13" hasCustomPrompt="1"/>
          </p:nvPr>
        </p:nvSpPr>
        <p:spPr>
          <a:xfrm>
            <a:off x="5356826" y="3259067"/>
            <a:ext cx="768000" cy="585600"/>
          </a:xfrm>
          <a:prstGeom prst="rect">
            <a:avLst/>
          </a:prstGeom>
          <a:noFill/>
          <a:ln>
            <a:noFill/>
          </a:ln>
        </p:spPr>
        <p:txBody>
          <a:bodyPr spcFirstLastPara="1" wrap="square" lIns="91425" tIns="91425" rIns="91425" bIns="91425" anchor="ctr" anchorCtr="0">
            <a:noAutofit/>
          </a:bodyPr>
          <a:lstStyle>
            <a:lvl1pPr lvl="0" algn="r" rtl="0">
              <a:spcBef>
                <a:spcPts val="0"/>
              </a:spcBef>
              <a:spcAft>
                <a:spcPts val="0"/>
              </a:spcAft>
              <a:buSzPts val="3000"/>
              <a:buNone/>
              <a:defRPr sz="3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4" name="Google Shape;74;p13"/>
          <p:cNvSpPr txBox="1">
            <a:spLocks noGrp="1"/>
          </p:cNvSpPr>
          <p:nvPr>
            <p:ph type="subTitle" idx="14"/>
          </p:nvPr>
        </p:nvSpPr>
        <p:spPr>
          <a:xfrm>
            <a:off x="2757875" y="2000892"/>
            <a:ext cx="23055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700" b="1"/>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5" name="Google Shape;75;p13"/>
          <p:cNvSpPr txBox="1">
            <a:spLocks noGrp="1"/>
          </p:cNvSpPr>
          <p:nvPr>
            <p:ph type="subTitle" idx="15"/>
          </p:nvPr>
        </p:nvSpPr>
        <p:spPr>
          <a:xfrm>
            <a:off x="2757875" y="3310542"/>
            <a:ext cx="23055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700" b="1"/>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cxnSp>
        <p:nvCxnSpPr>
          <p:cNvPr id="76" name="Google Shape;76;p13"/>
          <p:cNvCxnSpPr/>
          <p:nvPr/>
        </p:nvCxnSpPr>
        <p:spPr>
          <a:xfrm rot="10800000">
            <a:off x="713275" y="383057"/>
            <a:ext cx="2973600" cy="0"/>
          </a:xfrm>
          <a:prstGeom prst="straightConnector1">
            <a:avLst/>
          </a:prstGeom>
          <a:noFill/>
          <a:ln w="19050" cap="flat" cmpd="sng">
            <a:solidFill>
              <a:schemeClr val="dk1"/>
            </a:solidFill>
            <a:prstDash val="solid"/>
            <a:round/>
            <a:headEnd type="none" w="med" len="med"/>
            <a:tailEnd type="none" w="med" len="med"/>
          </a:ln>
        </p:spPr>
      </p:cxnSp>
      <p:sp>
        <p:nvSpPr>
          <p:cNvPr id="77" name="Google Shape;77;p13"/>
          <p:cNvSpPr/>
          <p:nvPr/>
        </p:nvSpPr>
        <p:spPr>
          <a:xfrm>
            <a:off x="3425050" y="111583"/>
            <a:ext cx="543159" cy="542943"/>
          </a:xfrm>
          <a:custGeom>
            <a:avLst/>
            <a:gdLst/>
            <a:ahLst/>
            <a:cxnLst/>
            <a:rect l="l" t="t" r="r" b="b"/>
            <a:pathLst>
              <a:path w="89079" h="89080" extrusionOk="0">
                <a:moveTo>
                  <a:pt x="44541" y="0"/>
                </a:moveTo>
                <a:cubicBezTo>
                  <a:pt x="44541" y="39592"/>
                  <a:pt x="39591" y="44542"/>
                  <a:pt x="0" y="44542"/>
                </a:cubicBezTo>
                <a:cubicBezTo>
                  <a:pt x="39591" y="44542"/>
                  <a:pt x="44541" y="49489"/>
                  <a:pt x="44541" y="89079"/>
                </a:cubicBezTo>
                <a:cubicBezTo>
                  <a:pt x="44541" y="49489"/>
                  <a:pt x="49488" y="44542"/>
                  <a:pt x="89078" y="44542"/>
                </a:cubicBezTo>
                <a:cubicBezTo>
                  <a:pt x="49488" y="44542"/>
                  <a:pt x="44541" y="39592"/>
                  <a:pt x="445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8" name="Google Shape;78;p13"/>
          <p:cNvCxnSpPr/>
          <p:nvPr/>
        </p:nvCxnSpPr>
        <p:spPr>
          <a:xfrm rot="10800000">
            <a:off x="705716" y="4753601"/>
            <a:ext cx="77166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05"/>
        <p:cNvGrpSpPr/>
        <p:nvPr/>
      </p:nvGrpSpPr>
      <p:grpSpPr>
        <a:xfrm>
          <a:off x="0" y="0"/>
          <a:ext cx="0" cy="0"/>
          <a:chOff x="0" y="0"/>
          <a:chExt cx="0" cy="0"/>
        </a:xfrm>
      </p:grpSpPr>
      <p:sp>
        <p:nvSpPr>
          <p:cNvPr id="106" name="Google Shape;106;p18"/>
          <p:cNvSpPr txBox="1">
            <a:spLocks noGrp="1"/>
          </p:cNvSpPr>
          <p:nvPr>
            <p:ph type="title"/>
          </p:nvPr>
        </p:nvSpPr>
        <p:spPr>
          <a:xfrm>
            <a:off x="720000" y="541977"/>
            <a:ext cx="7704000" cy="6873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7" name="Google Shape;107;p18"/>
          <p:cNvSpPr txBox="1">
            <a:spLocks noGrp="1"/>
          </p:cNvSpPr>
          <p:nvPr>
            <p:ph type="subTitle" idx="1"/>
          </p:nvPr>
        </p:nvSpPr>
        <p:spPr>
          <a:xfrm>
            <a:off x="4854250" y="3089309"/>
            <a:ext cx="2643600" cy="101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8" name="Google Shape;108;p18"/>
          <p:cNvSpPr txBox="1">
            <a:spLocks noGrp="1"/>
          </p:cNvSpPr>
          <p:nvPr>
            <p:ph type="subTitle" idx="2"/>
          </p:nvPr>
        </p:nvSpPr>
        <p:spPr>
          <a:xfrm>
            <a:off x="1646375" y="3089309"/>
            <a:ext cx="2643600" cy="101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9" name="Google Shape;109;p18"/>
          <p:cNvSpPr txBox="1">
            <a:spLocks noGrp="1"/>
          </p:cNvSpPr>
          <p:nvPr>
            <p:ph type="subTitle" idx="3"/>
          </p:nvPr>
        </p:nvSpPr>
        <p:spPr>
          <a:xfrm>
            <a:off x="1646375" y="2639772"/>
            <a:ext cx="2643600" cy="558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700" b="1">
                <a:solidFill>
                  <a:schemeClr val="dk1"/>
                </a:solidFill>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0" name="Google Shape;110;p18"/>
          <p:cNvSpPr txBox="1">
            <a:spLocks noGrp="1"/>
          </p:cNvSpPr>
          <p:nvPr>
            <p:ph type="subTitle" idx="4"/>
          </p:nvPr>
        </p:nvSpPr>
        <p:spPr>
          <a:xfrm>
            <a:off x="4854250" y="2639772"/>
            <a:ext cx="2643600" cy="558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700" b="1">
                <a:solidFill>
                  <a:schemeClr val="dk1"/>
                </a:solidFill>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cxnSp>
        <p:nvCxnSpPr>
          <p:cNvPr id="111" name="Google Shape;111;p18"/>
          <p:cNvCxnSpPr/>
          <p:nvPr/>
        </p:nvCxnSpPr>
        <p:spPr>
          <a:xfrm rot="10800000">
            <a:off x="705050" y="381950"/>
            <a:ext cx="7749900" cy="0"/>
          </a:xfrm>
          <a:prstGeom prst="straightConnector1">
            <a:avLst/>
          </a:prstGeom>
          <a:noFill/>
          <a:ln w="19050" cap="flat" cmpd="sng">
            <a:solidFill>
              <a:schemeClr val="dk1"/>
            </a:solidFill>
            <a:prstDash val="solid"/>
            <a:round/>
            <a:headEnd type="none" w="med" len="med"/>
            <a:tailEnd type="none" w="med" len="med"/>
          </a:ln>
        </p:spPr>
      </p:cxnSp>
      <p:sp>
        <p:nvSpPr>
          <p:cNvPr id="112" name="Google Shape;112;p18"/>
          <p:cNvSpPr/>
          <p:nvPr/>
        </p:nvSpPr>
        <p:spPr>
          <a:xfrm>
            <a:off x="8159195" y="110471"/>
            <a:ext cx="543159" cy="542943"/>
          </a:xfrm>
          <a:custGeom>
            <a:avLst/>
            <a:gdLst/>
            <a:ahLst/>
            <a:cxnLst/>
            <a:rect l="l" t="t" r="r" b="b"/>
            <a:pathLst>
              <a:path w="89079" h="89080" extrusionOk="0">
                <a:moveTo>
                  <a:pt x="44541" y="0"/>
                </a:moveTo>
                <a:cubicBezTo>
                  <a:pt x="44541" y="39592"/>
                  <a:pt x="39591" y="44542"/>
                  <a:pt x="0" y="44542"/>
                </a:cubicBezTo>
                <a:cubicBezTo>
                  <a:pt x="39591" y="44542"/>
                  <a:pt x="44541" y="49489"/>
                  <a:pt x="44541" y="89079"/>
                </a:cubicBezTo>
                <a:cubicBezTo>
                  <a:pt x="44541" y="49489"/>
                  <a:pt x="49488" y="44542"/>
                  <a:pt x="89078" y="44542"/>
                </a:cubicBezTo>
                <a:cubicBezTo>
                  <a:pt x="49488" y="44542"/>
                  <a:pt x="44541" y="39592"/>
                  <a:pt x="445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3" name="Google Shape;113;p18"/>
          <p:cNvCxnSpPr/>
          <p:nvPr/>
        </p:nvCxnSpPr>
        <p:spPr>
          <a:xfrm rot="10800000">
            <a:off x="705716" y="4753601"/>
            <a:ext cx="77166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22"/>
        <p:cNvGrpSpPr/>
        <p:nvPr/>
      </p:nvGrpSpPr>
      <p:grpSpPr>
        <a:xfrm>
          <a:off x="0" y="0"/>
          <a:ext cx="0" cy="0"/>
          <a:chOff x="0" y="0"/>
          <a:chExt cx="0" cy="0"/>
        </a:xfrm>
      </p:grpSpPr>
      <p:sp>
        <p:nvSpPr>
          <p:cNvPr id="123" name="Google Shape;123;p20"/>
          <p:cNvSpPr txBox="1">
            <a:spLocks noGrp="1"/>
          </p:cNvSpPr>
          <p:nvPr>
            <p:ph type="title"/>
          </p:nvPr>
        </p:nvSpPr>
        <p:spPr>
          <a:xfrm>
            <a:off x="720000" y="539500"/>
            <a:ext cx="7710900" cy="5916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4" name="Google Shape;124;p20"/>
          <p:cNvSpPr txBox="1">
            <a:spLocks noGrp="1"/>
          </p:cNvSpPr>
          <p:nvPr>
            <p:ph type="subTitle" idx="1"/>
          </p:nvPr>
        </p:nvSpPr>
        <p:spPr>
          <a:xfrm>
            <a:off x="1231050" y="3184546"/>
            <a:ext cx="2074500" cy="804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25" name="Google Shape;125;p20"/>
          <p:cNvSpPr txBox="1">
            <a:spLocks noGrp="1"/>
          </p:cNvSpPr>
          <p:nvPr>
            <p:ph type="subTitle" idx="2"/>
          </p:nvPr>
        </p:nvSpPr>
        <p:spPr>
          <a:xfrm>
            <a:off x="3538101" y="3181214"/>
            <a:ext cx="2074500" cy="804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26" name="Google Shape;126;p20"/>
          <p:cNvSpPr txBox="1">
            <a:spLocks noGrp="1"/>
          </p:cNvSpPr>
          <p:nvPr>
            <p:ph type="subTitle" idx="3"/>
          </p:nvPr>
        </p:nvSpPr>
        <p:spPr>
          <a:xfrm>
            <a:off x="5845153" y="3181201"/>
            <a:ext cx="2074500" cy="804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27" name="Google Shape;127;p20"/>
          <p:cNvSpPr txBox="1">
            <a:spLocks noGrp="1"/>
          </p:cNvSpPr>
          <p:nvPr>
            <p:ph type="subTitle" idx="4"/>
          </p:nvPr>
        </p:nvSpPr>
        <p:spPr>
          <a:xfrm>
            <a:off x="1231050" y="2835527"/>
            <a:ext cx="2074500" cy="449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700" b="1">
                <a:solidFill>
                  <a:schemeClr val="dk1"/>
                </a:solidFill>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8" name="Google Shape;128;p20"/>
          <p:cNvSpPr txBox="1">
            <a:spLocks noGrp="1"/>
          </p:cNvSpPr>
          <p:nvPr>
            <p:ph type="subTitle" idx="5"/>
          </p:nvPr>
        </p:nvSpPr>
        <p:spPr>
          <a:xfrm>
            <a:off x="3535167" y="2832463"/>
            <a:ext cx="2074500" cy="449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700" b="1">
                <a:solidFill>
                  <a:schemeClr val="dk1"/>
                </a:solidFill>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29" name="Google Shape;129;p20"/>
          <p:cNvSpPr txBox="1">
            <a:spLocks noGrp="1"/>
          </p:cNvSpPr>
          <p:nvPr>
            <p:ph type="subTitle" idx="6"/>
          </p:nvPr>
        </p:nvSpPr>
        <p:spPr>
          <a:xfrm>
            <a:off x="5845153" y="2832450"/>
            <a:ext cx="2074500" cy="449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700" b="1">
                <a:solidFill>
                  <a:schemeClr val="dk1"/>
                </a:solidFill>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cxnSp>
        <p:nvCxnSpPr>
          <p:cNvPr id="130" name="Google Shape;130;p20"/>
          <p:cNvCxnSpPr/>
          <p:nvPr/>
        </p:nvCxnSpPr>
        <p:spPr>
          <a:xfrm rot="10800000">
            <a:off x="705125" y="381945"/>
            <a:ext cx="7724700" cy="0"/>
          </a:xfrm>
          <a:prstGeom prst="straightConnector1">
            <a:avLst/>
          </a:prstGeom>
          <a:noFill/>
          <a:ln w="19050" cap="flat" cmpd="sng">
            <a:solidFill>
              <a:schemeClr val="dk1"/>
            </a:solidFill>
            <a:prstDash val="solid"/>
            <a:round/>
            <a:headEnd type="none" w="med" len="med"/>
            <a:tailEnd type="none" w="med" len="med"/>
          </a:ln>
        </p:spPr>
      </p:cxnSp>
      <p:cxnSp>
        <p:nvCxnSpPr>
          <p:cNvPr id="131" name="Google Shape;131;p20"/>
          <p:cNvCxnSpPr/>
          <p:nvPr/>
        </p:nvCxnSpPr>
        <p:spPr>
          <a:xfrm rot="10800000">
            <a:off x="705716" y="4753601"/>
            <a:ext cx="77166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45"/>
        <p:cNvGrpSpPr/>
        <p:nvPr/>
      </p:nvGrpSpPr>
      <p:grpSpPr>
        <a:xfrm>
          <a:off x="0" y="0"/>
          <a:ext cx="0" cy="0"/>
          <a:chOff x="0" y="0"/>
          <a:chExt cx="0" cy="0"/>
        </a:xfrm>
      </p:grpSpPr>
      <p:sp>
        <p:nvSpPr>
          <p:cNvPr id="146" name="Google Shape;146;p22"/>
          <p:cNvSpPr txBox="1">
            <a:spLocks noGrp="1"/>
          </p:cNvSpPr>
          <p:nvPr>
            <p:ph type="title"/>
          </p:nvPr>
        </p:nvSpPr>
        <p:spPr>
          <a:xfrm>
            <a:off x="720000" y="529975"/>
            <a:ext cx="7704000" cy="735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7" name="Google Shape;147;p22"/>
          <p:cNvSpPr txBox="1">
            <a:spLocks noGrp="1"/>
          </p:cNvSpPr>
          <p:nvPr>
            <p:ph type="subTitle" idx="1"/>
          </p:nvPr>
        </p:nvSpPr>
        <p:spPr>
          <a:xfrm>
            <a:off x="1085725" y="2278922"/>
            <a:ext cx="1999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48" name="Google Shape;148;p22"/>
          <p:cNvSpPr txBox="1">
            <a:spLocks noGrp="1"/>
          </p:cNvSpPr>
          <p:nvPr>
            <p:ph type="subTitle" idx="2"/>
          </p:nvPr>
        </p:nvSpPr>
        <p:spPr>
          <a:xfrm>
            <a:off x="3572269" y="2278922"/>
            <a:ext cx="1999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49" name="Google Shape;149;p22"/>
          <p:cNvSpPr txBox="1">
            <a:spLocks noGrp="1"/>
          </p:cNvSpPr>
          <p:nvPr>
            <p:ph type="subTitle" idx="3"/>
          </p:nvPr>
        </p:nvSpPr>
        <p:spPr>
          <a:xfrm>
            <a:off x="1085725" y="3569428"/>
            <a:ext cx="1999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50" name="Google Shape;150;p22"/>
          <p:cNvSpPr txBox="1">
            <a:spLocks noGrp="1"/>
          </p:cNvSpPr>
          <p:nvPr>
            <p:ph type="subTitle" idx="4"/>
          </p:nvPr>
        </p:nvSpPr>
        <p:spPr>
          <a:xfrm>
            <a:off x="3572269" y="3569428"/>
            <a:ext cx="1999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51" name="Google Shape;151;p22"/>
          <p:cNvSpPr txBox="1">
            <a:spLocks noGrp="1"/>
          </p:cNvSpPr>
          <p:nvPr>
            <p:ph type="subTitle" idx="5"/>
          </p:nvPr>
        </p:nvSpPr>
        <p:spPr>
          <a:xfrm>
            <a:off x="6058814" y="2278922"/>
            <a:ext cx="1999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52" name="Google Shape;152;p22"/>
          <p:cNvSpPr txBox="1">
            <a:spLocks noGrp="1"/>
          </p:cNvSpPr>
          <p:nvPr>
            <p:ph type="subTitle" idx="6"/>
          </p:nvPr>
        </p:nvSpPr>
        <p:spPr>
          <a:xfrm>
            <a:off x="6058814" y="3569428"/>
            <a:ext cx="19995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53" name="Google Shape;153;p22"/>
          <p:cNvSpPr txBox="1">
            <a:spLocks noGrp="1"/>
          </p:cNvSpPr>
          <p:nvPr>
            <p:ph type="subTitle" idx="7"/>
          </p:nvPr>
        </p:nvSpPr>
        <p:spPr>
          <a:xfrm>
            <a:off x="1089742" y="2009625"/>
            <a:ext cx="19914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700" b="1">
                <a:solidFill>
                  <a:schemeClr val="dk1"/>
                </a:solidFill>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54" name="Google Shape;154;p22"/>
          <p:cNvSpPr txBox="1">
            <a:spLocks noGrp="1"/>
          </p:cNvSpPr>
          <p:nvPr>
            <p:ph type="subTitle" idx="8"/>
          </p:nvPr>
        </p:nvSpPr>
        <p:spPr>
          <a:xfrm>
            <a:off x="3576196" y="2009625"/>
            <a:ext cx="19914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700" b="1">
                <a:solidFill>
                  <a:schemeClr val="dk1"/>
                </a:solidFill>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55" name="Google Shape;155;p22"/>
          <p:cNvSpPr txBox="1">
            <a:spLocks noGrp="1"/>
          </p:cNvSpPr>
          <p:nvPr>
            <p:ph type="subTitle" idx="9"/>
          </p:nvPr>
        </p:nvSpPr>
        <p:spPr>
          <a:xfrm>
            <a:off x="6062831" y="2009625"/>
            <a:ext cx="19914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700" b="1">
                <a:solidFill>
                  <a:schemeClr val="dk1"/>
                </a:solidFill>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56" name="Google Shape;156;p22"/>
          <p:cNvSpPr txBox="1">
            <a:spLocks noGrp="1"/>
          </p:cNvSpPr>
          <p:nvPr>
            <p:ph type="subTitle" idx="13"/>
          </p:nvPr>
        </p:nvSpPr>
        <p:spPr>
          <a:xfrm>
            <a:off x="1089742" y="3298994"/>
            <a:ext cx="19914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700" b="1">
                <a:solidFill>
                  <a:schemeClr val="dk1"/>
                </a:solidFill>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57" name="Google Shape;157;p22"/>
          <p:cNvSpPr txBox="1">
            <a:spLocks noGrp="1"/>
          </p:cNvSpPr>
          <p:nvPr>
            <p:ph type="subTitle" idx="14"/>
          </p:nvPr>
        </p:nvSpPr>
        <p:spPr>
          <a:xfrm>
            <a:off x="3576196" y="3298994"/>
            <a:ext cx="19914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700" b="1">
                <a:solidFill>
                  <a:schemeClr val="dk1"/>
                </a:solidFill>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58" name="Google Shape;158;p22"/>
          <p:cNvSpPr txBox="1">
            <a:spLocks noGrp="1"/>
          </p:cNvSpPr>
          <p:nvPr>
            <p:ph type="subTitle" idx="15"/>
          </p:nvPr>
        </p:nvSpPr>
        <p:spPr>
          <a:xfrm>
            <a:off x="6062831" y="3298994"/>
            <a:ext cx="1991400" cy="377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1700" b="1">
                <a:solidFill>
                  <a:schemeClr val="dk1"/>
                </a:solidFill>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cxnSp>
        <p:nvCxnSpPr>
          <p:cNvPr id="159" name="Google Shape;159;p22"/>
          <p:cNvCxnSpPr/>
          <p:nvPr/>
        </p:nvCxnSpPr>
        <p:spPr>
          <a:xfrm rot="10800000">
            <a:off x="713225" y="385150"/>
            <a:ext cx="7716600" cy="0"/>
          </a:xfrm>
          <a:prstGeom prst="straightConnector1">
            <a:avLst/>
          </a:prstGeom>
          <a:noFill/>
          <a:ln w="19050" cap="flat" cmpd="sng">
            <a:solidFill>
              <a:schemeClr val="dk1"/>
            </a:solidFill>
            <a:prstDash val="solid"/>
            <a:round/>
            <a:headEnd type="none" w="med" len="med"/>
            <a:tailEnd type="none" w="med" len="med"/>
          </a:ln>
        </p:spPr>
      </p:cxnSp>
      <p:cxnSp>
        <p:nvCxnSpPr>
          <p:cNvPr id="160" name="Google Shape;160;p22"/>
          <p:cNvCxnSpPr/>
          <p:nvPr/>
        </p:nvCxnSpPr>
        <p:spPr>
          <a:xfrm rot="10800000">
            <a:off x="705716" y="4753601"/>
            <a:ext cx="77166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21">
    <p:spTree>
      <p:nvGrpSpPr>
        <p:cNvPr id="1" name="Shape 271"/>
        <p:cNvGrpSpPr/>
        <p:nvPr/>
      </p:nvGrpSpPr>
      <p:grpSpPr>
        <a:xfrm>
          <a:off x="0" y="0"/>
          <a:ext cx="0" cy="0"/>
          <a:chOff x="0" y="0"/>
          <a:chExt cx="0" cy="0"/>
        </a:xfrm>
      </p:grpSpPr>
      <p:sp>
        <p:nvSpPr>
          <p:cNvPr id="272" name="Google Shape;272;p35"/>
          <p:cNvSpPr/>
          <p:nvPr/>
        </p:nvSpPr>
        <p:spPr>
          <a:xfrm>
            <a:off x="441650" y="4482128"/>
            <a:ext cx="543159" cy="542943"/>
          </a:xfrm>
          <a:custGeom>
            <a:avLst/>
            <a:gdLst/>
            <a:ahLst/>
            <a:cxnLst/>
            <a:rect l="l" t="t" r="r" b="b"/>
            <a:pathLst>
              <a:path w="89079" h="89080" extrusionOk="0">
                <a:moveTo>
                  <a:pt x="44541" y="0"/>
                </a:moveTo>
                <a:cubicBezTo>
                  <a:pt x="44541" y="39592"/>
                  <a:pt x="39591" y="44542"/>
                  <a:pt x="0" y="44542"/>
                </a:cubicBezTo>
                <a:cubicBezTo>
                  <a:pt x="39591" y="44542"/>
                  <a:pt x="44541" y="49489"/>
                  <a:pt x="44541" y="89079"/>
                </a:cubicBezTo>
                <a:cubicBezTo>
                  <a:pt x="44541" y="49489"/>
                  <a:pt x="49488" y="44542"/>
                  <a:pt x="89078" y="44542"/>
                </a:cubicBezTo>
                <a:cubicBezTo>
                  <a:pt x="49488" y="44542"/>
                  <a:pt x="44541" y="39592"/>
                  <a:pt x="445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3" name="Google Shape;273;p35"/>
          <p:cNvCxnSpPr/>
          <p:nvPr/>
        </p:nvCxnSpPr>
        <p:spPr>
          <a:xfrm rot="10800000">
            <a:off x="705125" y="383045"/>
            <a:ext cx="7724700" cy="0"/>
          </a:xfrm>
          <a:prstGeom prst="straightConnector1">
            <a:avLst/>
          </a:prstGeom>
          <a:noFill/>
          <a:ln w="19050" cap="flat" cmpd="sng">
            <a:solidFill>
              <a:schemeClr val="dk1"/>
            </a:solidFill>
            <a:prstDash val="solid"/>
            <a:round/>
            <a:headEnd type="none" w="med" len="med"/>
            <a:tailEnd type="none" w="med" len="med"/>
          </a:ln>
        </p:spPr>
      </p:cxnSp>
      <p:sp>
        <p:nvSpPr>
          <p:cNvPr id="274" name="Google Shape;274;p35"/>
          <p:cNvSpPr/>
          <p:nvPr/>
        </p:nvSpPr>
        <p:spPr>
          <a:xfrm>
            <a:off x="8159200" y="111578"/>
            <a:ext cx="543159" cy="542943"/>
          </a:xfrm>
          <a:custGeom>
            <a:avLst/>
            <a:gdLst/>
            <a:ahLst/>
            <a:cxnLst/>
            <a:rect l="l" t="t" r="r" b="b"/>
            <a:pathLst>
              <a:path w="89079" h="89080" extrusionOk="0">
                <a:moveTo>
                  <a:pt x="44541" y="0"/>
                </a:moveTo>
                <a:cubicBezTo>
                  <a:pt x="44541" y="39592"/>
                  <a:pt x="39591" y="44542"/>
                  <a:pt x="0" y="44542"/>
                </a:cubicBezTo>
                <a:cubicBezTo>
                  <a:pt x="39591" y="44542"/>
                  <a:pt x="44541" y="49489"/>
                  <a:pt x="44541" y="89079"/>
                </a:cubicBezTo>
                <a:cubicBezTo>
                  <a:pt x="44541" y="49489"/>
                  <a:pt x="49488" y="44542"/>
                  <a:pt x="89078" y="44542"/>
                </a:cubicBezTo>
                <a:cubicBezTo>
                  <a:pt x="49488" y="44542"/>
                  <a:pt x="44541" y="39592"/>
                  <a:pt x="445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5" name="Google Shape;275;p35"/>
          <p:cNvCxnSpPr/>
          <p:nvPr/>
        </p:nvCxnSpPr>
        <p:spPr>
          <a:xfrm rot="10800000">
            <a:off x="705716" y="4753601"/>
            <a:ext cx="77166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22">
    <p:spTree>
      <p:nvGrpSpPr>
        <p:cNvPr id="1" name="Shape 276"/>
        <p:cNvGrpSpPr/>
        <p:nvPr/>
      </p:nvGrpSpPr>
      <p:grpSpPr>
        <a:xfrm>
          <a:off x="0" y="0"/>
          <a:ext cx="0" cy="0"/>
          <a:chOff x="0" y="0"/>
          <a:chExt cx="0" cy="0"/>
        </a:xfrm>
      </p:grpSpPr>
      <p:sp>
        <p:nvSpPr>
          <p:cNvPr id="277" name="Google Shape;277;p36"/>
          <p:cNvSpPr/>
          <p:nvPr/>
        </p:nvSpPr>
        <p:spPr>
          <a:xfrm>
            <a:off x="441650" y="4482128"/>
            <a:ext cx="543159" cy="542943"/>
          </a:xfrm>
          <a:custGeom>
            <a:avLst/>
            <a:gdLst/>
            <a:ahLst/>
            <a:cxnLst/>
            <a:rect l="l" t="t" r="r" b="b"/>
            <a:pathLst>
              <a:path w="89079" h="89080" extrusionOk="0">
                <a:moveTo>
                  <a:pt x="44541" y="0"/>
                </a:moveTo>
                <a:cubicBezTo>
                  <a:pt x="44541" y="39592"/>
                  <a:pt x="39591" y="44542"/>
                  <a:pt x="0" y="44542"/>
                </a:cubicBezTo>
                <a:cubicBezTo>
                  <a:pt x="39591" y="44542"/>
                  <a:pt x="44541" y="49489"/>
                  <a:pt x="44541" y="89079"/>
                </a:cubicBezTo>
                <a:cubicBezTo>
                  <a:pt x="44541" y="49489"/>
                  <a:pt x="49488" y="44542"/>
                  <a:pt x="89078" y="44542"/>
                </a:cubicBezTo>
                <a:cubicBezTo>
                  <a:pt x="49488" y="44542"/>
                  <a:pt x="44541" y="39592"/>
                  <a:pt x="445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8" name="Google Shape;278;p36"/>
          <p:cNvCxnSpPr/>
          <p:nvPr/>
        </p:nvCxnSpPr>
        <p:spPr>
          <a:xfrm rot="10800000">
            <a:off x="705125" y="383045"/>
            <a:ext cx="7724700" cy="0"/>
          </a:xfrm>
          <a:prstGeom prst="straightConnector1">
            <a:avLst/>
          </a:prstGeom>
          <a:noFill/>
          <a:ln w="19050" cap="flat" cmpd="sng">
            <a:solidFill>
              <a:schemeClr val="dk1"/>
            </a:solidFill>
            <a:prstDash val="solid"/>
            <a:round/>
            <a:headEnd type="none" w="med" len="med"/>
            <a:tailEnd type="none" w="med" len="med"/>
          </a:ln>
        </p:spPr>
      </p:cxnSp>
      <p:cxnSp>
        <p:nvCxnSpPr>
          <p:cNvPr id="279" name="Google Shape;279;p36"/>
          <p:cNvCxnSpPr/>
          <p:nvPr/>
        </p:nvCxnSpPr>
        <p:spPr>
          <a:xfrm rot="10800000">
            <a:off x="705716" y="4753601"/>
            <a:ext cx="77166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300"/>
              <a:buFont typeface="Archivo Black"/>
              <a:buNone/>
              <a:defRPr sz="3300">
                <a:solidFill>
                  <a:schemeClr val="dk1"/>
                </a:solidFill>
                <a:latin typeface="Archivo Black"/>
                <a:ea typeface="Archivo Black"/>
                <a:cs typeface="Archivo Black"/>
                <a:sym typeface="Archivo Black"/>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Questrial"/>
              <a:buChar char="●"/>
              <a:defRPr>
                <a:solidFill>
                  <a:schemeClr val="dk1"/>
                </a:solidFill>
                <a:latin typeface="Questrial"/>
                <a:ea typeface="Questrial"/>
                <a:cs typeface="Questrial"/>
                <a:sym typeface="Questrial"/>
              </a:defRPr>
            </a:lvl1pPr>
            <a:lvl2pPr marL="914400" lvl="1"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2pPr>
            <a:lvl3pPr marL="1371600" lvl="2"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3pPr>
            <a:lvl4pPr marL="1828800" lvl="3"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4pPr>
            <a:lvl5pPr marL="2286000" lvl="4"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5pPr>
            <a:lvl6pPr marL="2743200" lvl="5"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6pPr>
            <a:lvl7pPr marL="3200400" lvl="6"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7pPr>
            <a:lvl8pPr marL="3657600" lvl="7" indent="-317500">
              <a:lnSpc>
                <a:spcPct val="100000"/>
              </a:lnSpc>
              <a:spcBef>
                <a:spcPts val="1600"/>
              </a:spcBef>
              <a:spcAft>
                <a:spcPts val="0"/>
              </a:spcAft>
              <a:buClr>
                <a:schemeClr val="dk1"/>
              </a:buClr>
              <a:buSzPts val="1400"/>
              <a:buFont typeface="Questrial"/>
              <a:buChar char="○"/>
              <a:defRPr>
                <a:solidFill>
                  <a:schemeClr val="dk1"/>
                </a:solidFill>
                <a:latin typeface="Questrial"/>
                <a:ea typeface="Questrial"/>
                <a:cs typeface="Questrial"/>
                <a:sym typeface="Questrial"/>
              </a:defRPr>
            </a:lvl8pPr>
            <a:lvl9pPr marL="4114800" lvl="8" indent="-317500">
              <a:lnSpc>
                <a:spcPct val="100000"/>
              </a:lnSpc>
              <a:spcBef>
                <a:spcPts val="1600"/>
              </a:spcBef>
              <a:spcAft>
                <a:spcPts val="1600"/>
              </a:spcAft>
              <a:buClr>
                <a:schemeClr val="dk1"/>
              </a:buClr>
              <a:buSzPts val="1400"/>
              <a:buFont typeface="Questrial"/>
              <a:buChar char="■"/>
              <a:defRPr>
                <a:solidFill>
                  <a:schemeClr val="dk1"/>
                </a:solidFill>
                <a:latin typeface="Questrial"/>
                <a:ea typeface="Questrial"/>
                <a:cs typeface="Questrial"/>
                <a:sym typeface="Quest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4" r:id="rId3"/>
    <p:sldLayoutId id="2147483658" r:id="rId4"/>
    <p:sldLayoutId id="2147483659" r:id="rId5"/>
    <p:sldLayoutId id="2147483664" r:id="rId6"/>
    <p:sldLayoutId id="2147483666" r:id="rId7"/>
    <p:sldLayoutId id="2147483668" r:id="rId8"/>
    <p:sldLayoutId id="2147483681" r:id="rId9"/>
    <p:sldLayoutId id="2147483682"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hyperlink" Target="https://openreview.net/forum?id=3P_XAs61" TargetMode="External"/><Relationship Id="rId5" Type="http://schemas.openxmlformats.org/officeDocument/2006/relationships/hyperlink" Target="https://arxiv.org/abs/2003.11080" TargetMode="External"/><Relationship Id="rId4" Type="http://schemas.openxmlformats.org/officeDocument/2006/relationships/hyperlink" Target="https://arxiv.org/abs/1907.11692"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1" name="Google Shape;291;p40"/>
          <p:cNvSpPr txBox="1">
            <a:spLocks noGrp="1"/>
          </p:cNvSpPr>
          <p:nvPr>
            <p:ph type="subTitle" idx="1"/>
          </p:nvPr>
        </p:nvSpPr>
        <p:spPr>
          <a:xfrm>
            <a:off x="585989" y="3549227"/>
            <a:ext cx="4288536" cy="1204946"/>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dirty="0"/>
              <a:t>               Ashitha P</a:t>
            </a:r>
          </a:p>
          <a:p>
            <a:pPr marL="0" lvl="0" indent="0" rtl="0">
              <a:spcBef>
                <a:spcPts val="0"/>
              </a:spcBef>
              <a:spcAft>
                <a:spcPts val="0"/>
              </a:spcAft>
              <a:buNone/>
            </a:pPr>
            <a:r>
              <a:rPr lang="en" dirty="0"/>
              <a:t>             (80521006)</a:t>
            </a:r>
          </a:p>
          <a:p>
            <a:pPr marL="0" lvl="0" indent="0" rtl="0">
              <a:spcBef>
                <a:spcPts val="0"/>
              </a:spcBef>
              <a:spcAft>
                <a:spcPts val="0"/>
              </a:spcAft>
              <a:buNone/>
            </a:pPr>
            <a:r>
              <a:rPr lang="en" dirty="0"/>
              <a:t>      Under the guidance of</a:t>
            </a:r>
          </a:p>
          <a:p>
            <a:pPr marL="0" lvl="0" indent="0" rtl="0">
              <a:spcBef>
                <a:spcPts val="0"/>
              </a:spcBef>
              <a:spcAft>
                <a:spcPts val="0"/>
              </a:spcAft>
              <a:buNone/>
            </a:pPr>
            <a:r>
              <a:rPr lang="en" dirty="0"/>
              <a:t>            Dr Ajees K P</a:t>
            </a:r>
          </a:p>
          <a:p>
            <a:pPr marL="0" lvl="0" indent="0" algn="l" rtl="0">
              <a:spcBef>
                <a:spcPts val="0"/>
              </a:spcBef>
              <a:spcAft>
                <a:spcPts val="0"/>
              </a:spcAft>
              <a:buNone/>
            </a:pPr>
            <a:endParaRPr dirty="0"/>
          </a:p>
        </p:txBody>
      </p:sp>
      <p:sp>
        <p:nvSpPr>
          <p:cNvPr id="292" name="Google Shape;292;p40"/>
          <p:cNvSpPr txBox="1">
            <a:spLocks noGrp="1"/>
          </p:cNvSpPr>
          <p:nvPr>
            <p:ph type="ctrTitle"/>
          </p:nvPr>
        </p:nvSpPr>
        <p:spPr>
          <a:xfrm>
            <a:off x="141668" y="581707"/>
            <a:ext cx="5100033" cy="2463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200" dirty="0"/>
              <a:t>Abusive Malayalam Text targeting Women on Social Media (YouTube comments) </a:t>
            </a:r>
            <a:endParaRPr sz="3200" dirty="0"/>
          </a:p>
        </p:txBody>
      </p:sp>
      <p:cxnSp>
        <p:nvCxnSpPr>
          <p:cNvPr id="294" name="Google Shape;294;p40"/>
          <p:cNvCxnSpPr/>
          <p:nvPr/>
        </p:nvCxnSpPr>
        <p:spPr>
          <a:xfrm>
            <a:off x="715400" y="389325"/>
            <a:ext cx="4043700" cy="0"/>
          </a:xfrm>
          <a:prstGeom prst="straightConnector1">
            <a:avLst/>
          </a:prstGeom>
          <a:noFill/>
          <a:ln w="19050" cap="flat" cmpd="sng">
            <a:solidFill>
              <a:schemeClr val="dk1"/>
            </a:solidFill>
            <a:prstDash val="solid"/>
            <a:round/>
            <a:headEnd type="none" w="med" len="med"/>
            <a:tailEnd type="none" w="med" len="med"/>
          </a:ln>
        </p:spPr>
      </p:cxnSp>
      <p:cxnSp>
        <p:nvCxnSpPr>
          <p:cNvPr id="296" name="Google Shape;296;p40"/>
          <p:cNvCxnSpPr/>
          <p:nvPr/>
        </p:nvCxnSpPr>
        <p:spPr>
          <a:xfrm>
            <a:off x="713225" y="3274553"/>
            <a:ext cx="4053300" cy="0"/>
          </a:xfrm>
          <a:prstGeom prst="straightConnector1">
            <a:avLst/>
          </a:prstGeom>
          <a:noFill/>
          <a:ln w="19050" cap="flat" cmpd="sng">
            <a:solidFill>
              <a:schemeClr val="dk1"/>
            </a:solidFill>
            <a:prstDash val="solid"/>
            <a:round/>
            <a:headEnd type="none" w="med" len="med"/>
            <a:tailEnd type="none" w="med" len="med"/>
          </a:ln>
        </p:spPr>
      </p:cxnSp>
      <p:grpSp>
        <p:nvGrpSpPr>
          <p:cNvPr id="2" name="Google Shape;299;p36">
            <a:extLst>
              <a:ext uri="{FF2B5EF4-FFF2-40B4-BE49-F238E27FC236}">
                <a16:creationId xmlns:a16="http://schemas.microsoft.com/office/drawing/2014/main" id="{77198D88-1731-F501-7AFD-F2C4A35EFDA2}"/>
              </a:ext>
            </a:extLst>
          </p:cNvPr>
          <p:cNvGrpSpPr/>
          <p:nvPr/>
        </p:nvGrpSpPr>
        <p:grpSpPr>
          <a:xfrm>
            <a:off x="5127034" y="-84092"/>
            <a:ext cx="2988299" cy="3795561"/>
            <a:chOff x="5849241" y="539500"/>
            <a:chExt cx="3624817" cy="4604028"/>
          </a:xfrm>
        </p:grpSpPr>
        <p:sp>
          <p:nvSpPr>
            <p:cNvPr id="3" name="Google Shape;300;p36">
              <a:extLst>
                <a:ext uri="{FF2B5EF4-FFF2-40B4-BE49-F238E27FC236}">
                  <a16:creationId xmlns:a16="http://schemas.microsoft.com/office/drawing/2014/main" id="{BBDB0244-E803-7821-B12E-43AA87611FAC}"/>
                </a:ext>
              </a:extLst>
            </p:cNvPr>
            <p:cNvSpPr/>
            <p:nvPr/>
          </p:nvSpPr>
          <p:spPr>
            <a:xfrm>
              <a:off x="5849241" y="539500"/>
              <a:ext cx="3624817" cy="4604028"/>
            </a:xfrm>
            <a:custGeom>
              <a:avLst/>
              <a:gdLst/>
              <a:ahLst/>
              <a:cxnLst/>
              <a:rect l="l" t="t" r="r" b="b"/>
              <a:pathLst>
                <a:path w="30510" h="38752" extrusionOk="0">
                  <a:moveTo>
                    <a:pt x="16621" y="0"/>
                  </a:moveTo>
                  <a:cubicBezTo>
                    <a:pt x="12019" y="0"/>
                    <a:pt x="6832" y="2260"/>
                    <a:pt x="5160" y="3482"/>
                  </a:cubicBezTo>
                  <a:cubicBezTo>
                    <a:pt x="3322" y="4829"/>
                    <a:pt x="1840" y="7297"/>
                    <a:pt x="1301" y="8463"/>
                  </a:cubicBezTo>
                  <a:cubicBezTo>
                    <a:pt x="763" y="9631"/>
                    <a:pt x="628" y="9631"/>
                    <a:pt x="314" y="11694"/>
                  </a:cubicBezTo>
                  <a:cubicBezTo>
                    <a:pt x="1" y="13758"/>
                    <a:pt x="1572" y="14521"/>
                    <a:pt x="1572" y="14521"/>
                  </a:cubicBezTo>
                  <a:cubicBezTo>
                    <a:pt x="314" y="11694"/>
                    <a:pt x="3270" y="9524"/>
                    <a:pt x="3270" y="9524"/>
                  </a:cubicBezTo>
                  <a:lnTo>
                    <a:pt x="3270" y="9524"/>
                  </a:lnTo>
                  <a:cubicBezTo>
                    <a:pt x="3003" y="9943"/>
                    <a:pt x="2615" y="11021"/>
                    <a:pt x="2648" y="12284"/>
                  </a:cubicBezTo>
                  <a:cubicBezTo>
                    <a:pt x="2680" y="13545"/>
                    <a:pt x="3019" y="14218"/>
                    <a:pt x="3406" y="15111"/>
                  </a:cubicBezTo>
                  <a:cubicBezTo>
                    <a:pt x="3471" y="15263"/>
                    <a:pt x="3522" y="15397"/>
                    <a:pt x="3563" y="15520"/>
                  </a:cubicBezTo>
                  <a:cubicBezTo>
                    <a:pt x="3401" y="15689"/>
                    <a:pt x="3080" y="15954"/>
                    <a:pt x="2644" y="15954"/>
                  </a:cubicBezTo>
                  <a:cubicBezTo>
                    <a:pt x="2599" y="15954"/>
                    <a:pt x="2554" y="15952"/>
                    <a:pt x="2507" y="15946"/>
                  </a:cubicBezTo>
                  <a:lnTo>
                    <a:pt x="2507" y="15946"/>
                  </a:lnTo>
                  <a:cubicBezTo>
                    <a:pt x="2507" y="15946"/>
                    <a:pt x="2835" y="16087"/>
                    <a:pt x="3263" y="16087"/>
                  </a:cubicBezTo>
                  <a:cubicBezTo>
                    <a:pt x="3392" y="16087"/>
                    <a:pt x="3530" y="16074"/>
                    <a:pt x="3671" y="16041"/>
                  </a:cubicBezTo>
                  <a:lnTo>
                    <a:pt x="3671" y="16041"/>
                  </a:lnTo>
                  <a:cubicBezTo>
                    <a:pt x="3694" y="16380"/>
                    <a:pt x="3614" y="16696"/>
                    <a:pt x="3489" y="17199"/>
                  </a:cubicBezTo>
                  <a:cubicBezTo>
                    <a:pt x="3270" y="18091"/>
                    <a:pt x="2751" y="18931"/>
                    <a:pt x="2381" y="19639"/>
                  </a:cubicBezTo>
                  <a:cubicBezTo>
                    <a:pt x="2009" y="20345"/>
                    <a:pt x="2397" y="20918"/>
                    <a:pt x="3019" y="21103"/>
                  </a:cubicBezTo>
                  <a:cubicBezTo>
                    <a:pt x="3642" y="21286"/>
                    <a:pt x="4045" y="21406"/>
                    <a:pt x="4045" y="21406"/>
                  </a:cubicBezTo>
                  <a:cubicBezTo>
                    <a:pt x="4228" y="21725"/>
                    <a:pt x="4040" y="22251"/>
                    <a:pt x="3892" y="22718"/>
                  </a:cubicBezTo>
                  <a:cubicBezTo>
                    <a:pt x="3634" y="23542"/>
                    <a:pt x="5176" y="23895"/>
                    <a:pt x="5176" y="23895"/>
                  </a:cubicBezTo>
                  <a:cubicBezTo>
                    <a:pt x="4493" y="24534"/>
                    <a:pt x="4970" y="25057"/>
                    <a:pt x="4970" y="25057"/>
                  </a:cubicBezTo>
                  <a:cubicBezTo>
                    <a:pt x="5812" y="25494"/>
                    <a:pt x="5727" y="25998"/>
                    <a:pt x="5779" y="26604"/>
                  </a:cubicBezTo>
                  <a:cubicBezTo>
                    <a:pt x="5830" y="27210"/>
                    <a:pt x="6013" y="27780"/>
                    <a:pt x="6652" y="28152"/>
                  </a:cubicBezTo>
                  <a:cubicBezTo>
                    <a:pt x="6761" y="28215"/>
                    <a:pt x="6943" y="28242"/>
                    <a:pt x="7172" y="28242"/>
                  </a:cubicBezTo>
                  <a:cubicBezTo>
                    <a:pt x="8275" y="28242"/>
                    <a:pt x="10464" y="27617"/>
                    <a:pt x="10825" y="27477"/>
                  </a:cubicBezTo>
                  <a:cubicBezTo>
                    <a:pt x="10878" y="27457"/>
                    <a:pt x="10928" y="27448"/>
                    <a:pt x="10976" y="27448"/>
                  </a:cubicBezTo>
                  <a:cubicBezTo>
                    <a:pt x="11322" y="27448"/>
                    <a:pt x="11531" y="27917"/>
                    <a:pt x="11532" y="27919"/>
                  </a:cubicBezTo>
                  <a:cubicBezTo>
                    <a:pt x="12251" y="29618"/>
                    <a:pt x="12718" y="32143"/>
                    <a:pt x="12676" y="33368"/>
                  </a:cubicBezTo>
                  <a:cubicBezTo>
                    <a:pt x="12608" y="35252"/>
                    <a:pt x="9849" y="38752"/>
                    <a:pt x="9849" y="38752"/>
                  </a:cubicBezTo>
                  <a:lnTo>
                    <a:pt x="27817" y="38752"/>
                  </a:lnTo>
                  <a:cubicBezTo>
                    <a:pt x="30509" y="31256"/>
                    <a:pt x="28446" y="14297"/>
                    <a:pt x="25907" y="7207"/>
                  </a:cubicBezTo>
                  <a:cubicBezTo>
                    <a:pt x="23369" y="117"/>
                    <a:pt x="17992" y="73"/>
                    <a:pt x="17992" y="73"/>
                  </a:cubicBezTo>
                  <a:cubicBezTo>
                    <a:pt x="17544" y="23"/>
                    <a:pt x="17085" y="0"/>
                    <a:pt x="16621" y="0"/>
                  </a:cubicBezTo>
                  <a:close/>
                </a:path>
              </a:pathLst>
            </a:cu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dirty="0"/>
            </a:p>
          </p:txBody>
        </p:sp>
        <p:sp>
          <p:nvSpPr>
            <p:cNvPr id="4" name="Google Shape;301;p36">
              <a:extLst>
                <a:ext uri="{FF2B5EF4-FFF2-40B4-BE49-F238E27FC236}">
                  <a16:creationId xmlns:a16="http://schemas.microsoft.com/office/drawing/2014/main" id="{F24CD7B3-0F15-7D43-3690-018BE92EC283}"/>
                </a:ext>
              </a:extLst>
            </p:cNvPr>
            <p:cNvSpPr/>
            <p:nvPr/>
          </p:nvSpPr>
          <p:spPr>
            <a:xfrm rot="1625336" flipH="1">
              <a:off x="6464809" y="2760843"/>
              <a:ext cx="161406" cy="161266"/>
            </a:xfrm>
            <a:prstGeom prst="teardrop">
              <a:avLst>
                <a:gd name="adj" fmla="val 168650"/>
              </a:avLst>
            </a:prstGeom>
            <a:solidFill>
              <a:schemeClr val="l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pic>
        <p:nvPicPr>
          <p:cNvPr id="1026" name="Picture 2">
            <a:extLst>
              <a:ext uri="{FF2B5EF4-FFF2-40B4-BE49-F238E27FC236}">
                <a16:creationId xmlns:a16="http://schemas.microsoft.com/office/drawing/2014/main" id="{824F8038-D00E-1DE7-C23F-C8EC91908F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0704" y="1567636"/>
            <a:ext cx="4053295" cy="34902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2"/>
          <p:cNvSpPr txBox="1">
            <a:spLocks noGrp="1"/>
          </p:cNvSpPr>
          <p:nvPr>
            <p:ph type="title"/>
          </p:nvPr>
        </p:nvSpPr>
        <p:spPr>
          <a:xfrm>
            <a:off x="720000" y="539202"/>
            <a:ext cx="7716600" cy="75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Table of contents</a:t>
            </a:r>
            <a:endParaRPr dirty="0"/>
          </a:p>
        </p:txBody>
      </p:sp>
      <p:sp>
        <p:nvSpPr>
          <p:cNvPr id="319" name="Google Shape;319;p42"/>
          <p:cNvSpPr txBox="1">
            <a:spLocks noGrp="1"/>
          </p:cNvSpPr>
          <p:nvPr>
            <p:ph type="title" idx="7"/>
          </p:nvPr>
        </p:nvSpPr>
        <p:spPr>
          <a:xfrm>
            <a:off x="811458" y="1839228"/>
            <a:ext cx="768000" cy="579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01</a:t>
            </a:r>
            <a:endParaRPr dirty="0"/>
          </a:p>
        </p:txBody>
      </p:sp>
      <p:sp>
        <p:nvSpPr>
          <p:cNvPr id="320" name="Google Shape;320;p42"/>
          <p:cNvSpPr txBox="1">
            <a:spLocks noGrp="1"/>
          </p:cNvSpPr>
          <p:nvPr>
            <p:ph type="title" idx="8"/>
          </p:nvPr>
        </p:nvSpPr>
        <p:spPr>
          <a:xfrm>
            <a:off x="819352" y="3320156"/>
            <a:ext cx="768000" cy="58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sp>
        <p:nvSpPr>
          <p:cNvPr id="321" name="Google Shape;321;p42"/>
          <p:cNvSpPr txBox="1">
            <a:spLocks noGrp="1"/>
          </p:cNvSpPr>
          <p:nvPr>
            <p:ph type="title" idx="9"/>
          </p:nvPr>
        </p:nvSpPr>
        <p:spPr>
          <a:xfrm>
            <a:off x="811207" y="2579692"/>
            <a:ext cx="768000" cy="579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02</a:t>
            </a:r>
            <a:endParaRPr dirty="0"/>
          </a:p>
        </p:txBody>
      </p:sp>
      <p:sp>
        <p:nvSpPr>
          <p:cNvPr id="322" name="Google Shape;322;p42"/>
          <p:cNvSpPr txBox="1">
            <a:spLocks noGrp="1"/>
          </p:cNvSpPr>
          <p:nvPr>
            <p:ph type="title" idx="13"/>
          </p:nvPr>
        </p:nvSpPr>
        <p:spPr>
          <a:xfrm>
            <a:off x="811207" y="4072979"/>
            <a:ext cx="768000" cy="58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04</a:t>
            </a:r>
            <a:endParaRPr dirty="0"/>
          </a:p>
        </p:txBody>
      </p:sp>
      <p:sp>
        <p:nvSpPr>
          <p:cNvPr id="323" name="Google Shape;323;p42"/>
          <p:cNvSpPr txBox="1">
            <a:spLocks noGrp="1"/>
          </p:cNvSpPr>
          <p:nvPr>
            <p:ph type="subTitle" idx="14"/>
          </p:nvPr>
        </p:nvSpPr>
        <p:spPr>
          <a:xfrm>
            <a:off x="1579207" y="1994278"/>
            <a:ext cx="2305500" cy="394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Introduction</a:t>
            </a:r>
            <a:endParaRPr dirty="0"/>
          </a:p>
        </p:txBody>
      </p:sp>
      <p:sp>
        <p:nvSpPr>
          <p:cNvPr id="324" name="Google Shape;324;p42"/>
          <p:cNvSpPr txBox="1">
            <a:spLocks noGrp="1"/>
          </p:cNvSpPr>
          <p:nvPr>
            <p:ph type="subTitle" idx="1"/>
          </p:nvPr>
        </p:nvSpPr>
        <p:spPr>
          <a:xfrm>
            <a:off x="1580752" y="2672616"/>
            <a:ext cx="2305500" cy="394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Literature Review</a:t>
            </a:r>
            <a:endParaRPr dirty="0"/>
          </a:p>
        </p:txBody>
      </p:sp>
      <p:sp>
        <p:nvSpPr>
          <p:cNvPr id="325" name="Google Shape;325;p42"/>
          <p:cNvSpPr txBox="1">
            <a:spLocks noGrp="1"/>
          </p:cNvSpPr>
          <p:nvPr>
            <p:ph type="subTitle" idx="15"/>
          </p:nvPr>
        </p:nvSpPr>
        <p:spPr>
          <a:xfrm>
            <a:off x="1587352" y="3492350"/>
            <a:ext cx="2305500" cy="394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Problem Statement</a:t>
            </a:r>
            <a:endParaRPr dirty="0"/>
          </a:p>
        </p:txBody>
      </p:sp>
      <p:sp>
        <p:nvSpPr>
          <p:cNvPr id="326" name="Google Shape;326;p42"/>
          <p:cNvSpPr txBox="1">
            <a:spLocks noGrp="1"/>
          </p:cNvSpPr>
          <p:nvPr>
            <p:ph type="subTitle" idx="2"/>
          </p:nvPr>
        </p:nvSpPr>
        <p:spPr>
          <a:xfrm>
            <a:off x="1579207" y="4159170"/>
            <a:ext cx="2305500" cy="394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Objective</a:t>
            </a:r>
            <a:endParaRPr dirty="0"/>
          </a:p>
        </p:txBody>
      </p:sp>
      <p:cxnSp>
        <p:nvCxnSpPr>
          <p:cNvPr id="328" name="Google Shape;328;p42"/>
          <p:cNvCxnSpPr/>
          <p:nvPr/>
        </p:nvCxnSpPr>
        <p:spPr>
          <a:xfrm rot="10800000">
            <a:off x="713300" y="1453900"/>
            <a:ext cx="7721700" cy="0"/>
          </a:xfrm>
          <a:prstGeom prst="straightConnector1">
            <a:avLst/>
          </a:prstGeom>
          <a:noFill/>
          <a:ln w="19050" cap="flat" cmpd="sng">
            <a:solidFill>
              <a:schemeClr val="dk1"/>
            </a:solidFill>
            <a:prstDash val="solid"/>
            <a:round/>
            <a:headEnd type="none" w="med" len="med"/>
            <a:tailEnd type="none" w="med" len="med"/>
          </a:ln>
        </p:spPr>
      </p:cxnSp>
      <p:sp>
        <p:nvSpPr>
          <p:cNvPr id="10" name="Google Shape;319;p42">
            <a:extLst>
              <a:ext uri="{FF2B5EF4-FFF2-40B4-BE49-F238E27FC236}">
                <a16:creationId xmlns:a16="http://schemas.microsoft.com/office/drawing/2014/main" id="{12E5ED2D-D04C-2899-DC59-FF5BCB1C778A}"/>
              </a:ext>
            </a:extLst>
          </p:cNvPr>
          <p:cNvSpPr txBox="1">
            <a:spLocks/>
          </p:cNvSpPr>
          <p:nvPr/>
        </p:nvSpPr>
        <p:spPr>
          <a:xfrm>
            <a:off x="4814641" y="1843720"/>
            <a:ext cx="768000" cy="579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rchivo Black"/>
              <a:buNone/>
              <a:defRPr sz="3400" b="0" i="0" u="none" strike="noStrike" cap="none">
                <a:solidFill>
                  <a:schemeClr val="dk1"/>
                </a:solidFill>
                <a:latin typeface="Archivo Black"/>
                <a:ea typeface="Archivo Black"/>
                <a:cs typeface="Archivo Black"/>
                <a:sym typeface="Archivo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en" dirty="0"/>
              <a:t>05</a:t>
            </a:r>
          </a:p>
        </p:txBody>
      </p:sp>
      <p:sp>
        <p:nvSpPr>
          <p:cNvPr id="11" name="Google Shape;321;p42">
            <a:extLst>
              <a:ext uri="{FF2B5EF4-FFF2-40B4-BE49-F238E27FC236}">
                <a16:creationId xmlns:a16="http://schemas.microsoft.com/office/drawing/2014/main" id="{4001D91B-67BE-1C6F-F1CC-D36394E78FA5}"/>
              </a:ext>
            </a:extLst>
          </p:cNvPr>
          <p:cNvSpPr txBox="1">
            <a:spLocks/>
          </p:cNvSpPr>
          <p:nvPr/>
        </p:nvSpPr>
        <p:spPr>
          <a:xfrm>
            <a:off x="4814641" y="2579692"/>
            <a:ext cx="768000" cy="579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3000"/>
              <a:buFont typeface="Archivo Black"/>
              <a:buNone/>
              <a:defRPr sz="3400" b="0" i="0" u="none" strike="noStrike" cap="none">
                <a:solidFill>
                  <a:schemeClr val="dk1"/>
                </a:solidFill>
                <a:latin typeface="Archivo Black"/>
                <a:ea typeface="Archivo Black"/>
                <a:cs typeface="Archivo Black"/>
                <a:sym typeface="Archivo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en" dirty="0"/>
              <a:t>06</a:t>
            </a:r>
          </a:p>
        </p:txBody>
      </p:sp>
      <p:sp>
        <p:nvSpPr>
          <p:cNvPr id="12" name="Google Shape;320;p42">
            <a:extLst>
              <a:ext uri="{FF2B5EF4-FFF2-40B4-BE49-F238E27FC236}">
                <a16:creationId xmlns:a16="http://schemas.microsoft.com/office/drawing/2014/main" id="{5A930306-8CA4-84E9-CBF4-217B2E7C5261}"/>
              </a:ext>
            </a:extLst>
          </p:cNvPr>
          <p:cNvSpPr txBox="1">
            <a:spLocks/>
          </p:cNvSpPr>
          <p:nvPr/>
        </p:nvSpPr>
        <p:spPr>
          <a:xfrm>
            <a:off x="4814641" y="3320156"/>
            <a:ext cx="768000" cy="585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rchivo Black"/>
              <a:buNone/>
              <a:defRPr sz="3400" b="0" i="0" u="none" strike="noStrike" cap="none">
                <a:solidFill>
                  <a:schemeClr val="dk1"/>
                </a:solidFill>
                <a:latin typeface="Archivo Black"/>
                <a:ea typeface="Archivo Black"/>
                <a:cs typeface="Archivo Black"/>
                <a:sym typeface="Archivo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en" dirty="0"/>
              <a:t>07</a:t>
            </a:r>
          </a:p>
        </p:txBody>
      </p:sp>
      <p:sp>
        <p:nvSpPr>
          <p:cNvPr id="13" name="Google Shape;322;p42">
            <a:extLst>
              <a:ext uri="{FF2B5EF4-FFF2-40B4-BE49-F238E27FC236}">
                <a16:creationId xmlns:a16="http://schemas.microsoft.com/office/drawing/2014/main" id="{15EC72A6-D74F-3223-2D14-D51A6E6E2784}"/>
              </a:ext>
            </a:extLst>
          </p:cNvPr>
          <p:cNvSpPr txBox="1">
            <a:spLocks/>
          </p:cNvSpPr>
          <p:nvPr/>
        </p:nvSpPr>
        <p:spPr>
          <a:xfrm>
            <a:off x="4814641" y="4072979"/>
            <a:ext cx="768000" cy="585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3000"/>
              <a:buFont typeface="Archivo Black"/>
              <a:buNone/>
              <a:defRPr sz="3400" b="0" i="0" u="none" strike="noStrike" cap="none">
                <a:solidFill>
                  <a:schemeClr val="dk1"/>
                </a:solidFill>
                <a:latin typeface="Archivo Black"/>
                <a:ea typeface="Archivo Black"/>
                <a:cs typeface="Archivo Black"/>
                <a:sym typeface="Archivo Black"/>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en" dirty="0"/>
              <a:t>08</a:t>
            </a:r>
          </a:p>
        </p:txBody>
      </p:sp>
      <p:sp>
        <p:nvSpPr>
          <p:cNvPr id="14" name="Google Shape;323;p42">
            <a:extLst>
              <a:ext uri="{FF2B5EF4-FFF2-40B4-BE49-F238E27FC236}">
                <a16:creationId xmlns:a16="http://schemas.microsoft.com/office/drawing/2014/main" id="{2208FE00-56E1-73D3-BDD6-0D84302D867F}"/>
              </a:ext>
            </a:extLst>
          </p:cNvPr>
          <p:cNvSpPr txBox="1">
            <a:spLocks/>
          </p:cNvSpPr>
          <p:nvPr/>
        </p:nvSpPr>
        <p:spPr>
          <a:xfrm>
            <a:off x="5672542" y="1992528"/>
            <a:ext cx="2305500" cy="394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1700" b="1" i="0" u="none" strike="noStrike" cap="none">
                <a:solidFill>
                  <a:schemeClr val="dk1"/>
                </a:solidFill>
                <a:latin typeface="Questrial"/>
                <a:ea typeface="Questrial"/>
                <a:cs typeface="Questrial"/>
                <a:sym typeface="Questrial"/>
              </a:defRPr>
            </a:lvl1pPr>
            <a:lvl2pPr marL="914400" marR="0" lvl="1"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dirty="0"/>
              <a:t>M</a:t>
            </a:r>
            <a:r>
              <a:rPr lang="en-IN" dirty="0" err="1"/>
              <a:t>ethodology</a:t>
            </a:r>
            <a:endParaRPr lang="en-IN" dirty="0"/>
          </a:p>
        </p:txBody>
      </p:sp>
      <p:sp>
        <p:nvSpPr>
          <p:cNvPr id="15" name="Google Shape;324;p42">
            <a:extLst>
              <a:ext uri="{FF2B5EF4-FFF2-40B4-BE49-F238E27FC236}">
                <a16:creationId xmlns:a16="http://schemas.microsoft.com/office/drawing/2014/main" id="{5F273400-16A5-BA57-92C8-EB6B4D7E5E35}"/>
              </a:ext>
            </a:extLst>
          </p:cNvPr>
          <p:cNvSpPr txBox="1">
            <a:spLocks/>
          </p:cNvSpPr>
          <p:nvPr/>
        </p:nvSpPr>
        <p:spPr>
          <a:xfrm>
            <a:off x="5672542" y="2668541"/>
            <a:ext cx="2305500" cy="394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1700" b="1" i="0" u="none" strike="noStrike" cap="none">
                <a:solidFill>
                  <a:schemeClr val="dk1"/>
                </a:solidFill>
                <a:latin typeface="Questrial"/>
                <a:ea typeface="Questrial"/>
                <a:cs typeface="Questrial"/>
                <a:sym typeface="Questrial"/>
              </a:defRPr>
            </a:lvl1pPr>
            <a:lvl2pPr marL="914400" marR="0" lvl="1"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dirty="0"/>
              <a:t>R</a:t>
            </a:r>
            <a:r>
              <a:rPr lang="en-IN" dirty="0" err="1"/>
              <a:t>esults</a:t>
            </a:r>
            <a:endParaRPr lang="en-IN" dirty="0"/>
          </a:p>
        </p:txBody>
      </p:sp>
      <p:sp>
        <p:nvSpPr>
          <p:cNvPr id="16" name="Google Shape;325;p42">
            <a:extLst>
              <a:ext uri="{FF2B5EF4-FFF2-40B4-BE49-F238E27FC236}">
                <a16:creationId xmlns:a16="http://schemas.microsoft.com/office/drawing/2014/main" id="{4AC5CBD6-894A-FF49-6432-CE0E3E453F25}"/>
              </a:ext>
            </a:extLst>
          </p:cNvPr>
          <p:cNvSpPr txBox="1">
            <a:spLocks/>
          </p:cNvSpPr>
          <p:nvPr/>
        </p:nvSpPr>
        <p:spPr>
          <a:xfrm>
            <a:off x="5672542" y="3492350"/>
            <a:ext cx="2305500" cy="394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1700" b="1" i="0" u="none" strike="noStrike" cap="none">
                <a:solidFill>
                  <a:schemeClr val="dk1"/>
                </a:solidFill>
                <a:latin typeface="Questrial"/>
                <a:ea typeface="Questrial"/>
                <a:cs typeface="Questrial"/>
                <a:sym typeface="Questrial"/>
              </a:defRPr>
            </a:lvl1pPr>
            <a:lvl2pPr marL="914400" marR="0" lvl="1"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dirty="0"/>
              <a:t>F</a:t>
            </a:r>
            <a:r>
              <a:rPr lang="en-IN" dirty="0" err="1"/>
              <a:t>uture</a:t>
            </a:r>
            <a:r>
              <a:rPr lang="en-IN" dirty="0"/>
              <a:t> Work</a:t>
            </a:r>
          </a:p>
        </p:txBody>
      </p:sp>
      <p:sp>
        <p:nvSpPr>
          <p:cNvPr id="17" name="Google Shape;326;p42">
            <a:extLst>
              <a:ext uri="{FF2B5EF4-FFF2-40B4-BE49-F238E27FC236}">
                <a16:creationId xmlns:a16="http://schemas.microsoft.com/office/drawing/2014/main" id="{C036D8B3-7833-139B-693F-2AD7B221048B}"/>
              </a:ext>
            </a:extLst>
          </p:cNvPr>
          <p:cNvSpPr txBox="1">
            <a:spLocks/>
          </p:cNvSpPr>
          <p:nvPr/>
        </p:nvSpPr>
        <p:spPr>
          <a:xfrm>
            <a:off x="5672542" y="4168529"/>
            <a:ext cx="2305500" cy="394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400"/>
              <a:buFont typeface="Bebas Neue"/>
              <a:buNone/>
              <a:defRPr sz="1700" b="1" i="0" u="none" strike="noStrike" cap="none">
                <a:solidFill>
                  <a:schemeClr val="dk1"/>
                </a:solidFill>
                <a:latin typeface="Questrial"/>
                <a:ea typeface="Questrial"/>
                <a:cs typeface="Questrial"/>
                <a:sym typeface="Questrial"/>
              </a:defRPr>
            </a:lvl1pPr>
            <a:lvl2pPr marL="914400" marR="0" lvl="1"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17500" algn="l"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dirty="0"/>
              <a:t>C</a:t>
            </a:r>
            <a:r>
              <a:rPr lang="en-IN" dirty="0" err="1"/>
              <a:t>onclusion</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5" name="Google Shape;345;p44"/>
          <p:cNvSpPr txBox="1">
            <a:spLocks noGrp="1"/>
          </p:cNvSpPr>
          <p:nvPr>
            <p:ph type="title"/>
          </p:nvPr>
        </p:nvSpPr>
        <p:spPr>
          <a:xfrm>
            <a:off x="2409380" y="75134"/>
            <a:ext cx="4633800" cy="153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Introduction</a:t>
            </a:r>
            <a:endParaRPr dirty="0"/>
          </a:p>
        </p:txBody>
      </p:sp>
      <p:sp>
        <p:nvSpPr>
          <p:cNvPr id="346" name="Google Shape;346;p44"/>
          <p:cNvSpPr txBox="1">
            <a:spLocks noGrp="1"/>
          </p:cNvSpPr>
          <p:nvPr>
            <p:ph type="title" idx="3"/>
          </p:nvPr>
        </p:nvSpPr>
        <p:spPr>
          <a:xfrm>
            <a:off x="918184" y="0"/>
            <a:ext cx="1334400" cy="110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01</a:t>
            </a:r>
            <a:endParaRPr dirty="0"/>
          </a:p>
        </p:txBody>
      </p:sp>
      <p:sp>
        <p:nvSpPr>
          <p:cNvPr id="347" name="Google Shape;347;p44"/>
          <p:cNvSpPr txBox="1">
            <a:spLocks noGrp="1"/>
          </p:cNvSpPr>
          <p:nvPr>
            <p:ph type="subTitle" idx="1"/>
          </p:nvPr>
        </p:nvSpPr>
        <p:spPr>
          <a:xfrm>
            <a:off x="77273" y="1108800"/>
            <a:ext cx="9066727" cy="3643504"/>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US" dirty="0"/>
              <a:t>In recent years, social media platforms like YouTube have become important for communication and entertainment. But they are also being used to post abusive and hurtful comments against women, causing emotional, social, and professional problems.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Our project aims to develop a system to  detect abusive comments targeting women, specifically in the Malayalam language. Malayalam, being a low-resource language, lacks sufficient tools and resources for content moderation, making this work especially important for creating safer online environments.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We collected comments from YouTube, mainly from topics where gender-based abuse is common. Each comment was marked as either Abusive or Non-Abusive. The aim of our project is to create and test models that can correctly find abusive Malayalam comments.</a:t>
            </a:r>
          </a:p>
          <a:p>
            <a:pPr marL="285750" indent="-285750">
              <a:buFont typeface="Arial" panose="020B0604020202020204" pitchFamily="34" charset="0"/>
              <a:buChar char="•"/>
            </a:pPr>
            <a:endParaRPr lang="en-US" dirty="0"/>
          </a:p>
          <a:p>
            <a:pPr marL="285750" lvl="0" indent="-285750" algn="l" rtl="0">
              <a:spcBef>
                <a:spcPts val="0"/>
              </a:spcBef>
              <a:spcAft>
                <a:spcPts val="0"/>
              </a:spcAft>
              <a:buFont typeface="Arial" panose="020B0604020202020204" pitchFamily="34" charset="0"/>
              <a:buChar char="•"/>
            </a:pPr>
            <a:endParaRPr dirty="0"/>
          </a:p>
        </p:txBody>
      </p:sp>
      <p:sp>
        <p:nvSpPr>
          <p:cNvPr id="350" name="Google Shape;350;p44"/>
          <p:cNvSpPr/>
          <p:nvPr/>
        </p:nvSpPr>
        <p:spPr>
          <a:xfrm>
            <a:off x="-780900" y="4360376"/>
            <a:ext cx="1569572" cy="1568699"/>
          </a:xfrm>
          <a:custGeom>
            <a:avLst/>
            <a:gdLst/>
            <a:ahLst/>
            <a:cxnLst/>
            <a:rect l="l" t="t" r="r" b="b"/>
            <a:pathLst>
              <a:path w="89079" h="89080" extrusionOk="0">
                <a:moveTo>
                  <a:pt x="44541" y="0"/>
                </a:moveTo>
                <a:cubicBezTo>
                  <a:pt x="44541" y="39592"/>
                  <a:pt x="39591" y="44542"/>
                  <a:pt x="0" y="44542"/>
                </a:cubicBezTo>
                <a:cubicBezTo>
                  <a:pt x="39591" y="44542"/>
                  <a:pt x="44541" y="49489"/>
                  <a:pt x="44541" y="89079"/>
                </a:cubicBezTo>
                <a:cubicBezTo>
                  <a:pt x="44541" y="49489"/>
                  <a:pt x="49488" y="44542"/>
                  <a:pt x="89078" y="44542"/>
                </a:cubicBezTo>
                <a:cubicBezTo>
                  <a:pt x="49488" y="44542"/>
                  <a:pt x="44541" y="39592"/>
                  <a:pt x="445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1">
          <a:extLst>
            <a:ext uri="{FF2B5EF4-FFF2-40B4-BE49-F238E27FC236}">
              <a16:creationId xmlns:a16="http://schemas.microsoft.com/office/drawing/2014/main" id="{01E9C4AC-E9BA-4BF1-F971-A256C54C8EE0}"/>
            </a:ext>
          </a:extLst>
        </p:cNvPr>
        <p:cNvGrpSpPr/>
        <p:nvPr/>
      </p:nvGrpSpPr>
      <p:grpSpPr>
        <a:xfrm>
          <a:off x="0" y="0"/>
          <a:ext cx="0" cy="0"/>
          <a:chOff x="0" y="0"/>
          <a:chExt cx="0" cy="0"/>
        </a:xfrm>
      </p:grpSpPr>
      <p:sp>
        <p:nvSpPr>
          <p:cNvPr id="345" name="Google Shape;345;p44">
            <a:extLst>
              <a:ext uri="{FF2B5EF4-FFF2-40B4-BE49-F238E27FC236}">
                <a16:creationId xmlns:a16="http://schemas.microsoft.com/office/drawing/2014/main" id="{4C9D4FAA-521B-11B4-8B27-4B0CBBC37AE7}"/>
              </a:ext>
            </a:extLst>
          </p:cNvPr>
          <p:cNvSpPr txBox="1">
            <a:spLocks noGrp="1"/>
          </p:cNvSpPr>
          <p:nvPr>
            <p:ph type="title"/>
          </p:nvPr>
        </p:nvSpPr>
        <p:spPr>
          <a:xfrm>
            <a:off x="2086377" y="75134"/>
            <a:ext cx="6664817" cy="153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Literature Review</a:t>
            </a:r>
            <a:endParaRPr dirty="0"/>
          </a:p>
        </p:txBody>
      </p:sp>
      <p:sp>
        <p:nvSpPr>
          <p:cNvPr id="346" name="Google Shape;346;p44">
            <a:extLst>
              <a:ext uri="{FF2B5EF4-FFF2-40B4-BE49-F238E27FC236}">
                <a16:creationId xmlns:a16="http://schemas.microsoft.com/office/drawing/2014/main" id="{365D11D3-9065-1D2C-332E-6C066F3A1CA6}"/>
              </a:ext>
            </a:extLst>
          </p:cNvPr>
          <p:cNvSpPr txBox="1">
            <a:spLocks noGrp="1"/>
          </p:cNvSpPr>
          <p:nvPr>
            <p:ph type="title" idx="3"/>
          </p:nvPr>
        </p:nvSpPr>
        <p:spPr>
          <a:xfrm>
            <a:off x="918184" y="0"/>
            <a:ext cx="1334400" cy="110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02</a:t>
            </a:r>
            <a:endParaRPr dirty="0"/>
          </a:p>
        </p:txBody>
      </p:sp>
      <p:sp>
        <p:nvSpPr>
          <p:cNvPr id="347" name="Google Shape;347;p44">
            <a:extLst>
              <a:ext uri="{FF2B5EF4-FFF2-40B4-BE49-F238E27FC236}">
                <a16:creationId xmlns:a16="http://schemas.microsoft.com/office/drawing/2014/main" id="{3CFBB395-1FE3-37E2-4F58-BD9B842F835B}"/>
              </a:ext>
            </a:extLst>
          </p:cNvPr>
          <p:cNvSpPr txBox="1">
            <a:spLocks noGrp="1"/>
          </p:cNvSpPr>
          <p:nvPr>
            <p:ph type="subTitle" idx="1"/>
          </p:nvPr>
        </p:nvSpPr>
        <p:spPr>
          <a:xfrm>
            <a:off x="77273" y="1108799"/>
            <a:ext cx="8912181" cy="3907521"/>
          </a:xfrm>
          <a:prstGeom prst="rect">
            <a:avLst/>
          </a:prstGeom>
        </p:spPr>
        <p:txBody>
          <a:bodyPr spcFirstLastPara="1" wrap="square" lIns="91425" tIns="91425" rIns="91425" bIns="91425" anchor="t" anchorCtr="0">
            <a:noAutofit/>
          </a:bodyPr>
          <a:lstStyle/>
          <a:p>
            <a:pPr marL="139700" indent="0"/>
            <a:r>
              <a:rPr lang="en-US" b="1" dirty="0"/>
              <a:t>1.  Paper:</a:t>
            </a:r>
            <a:r>
              <a:rPr lang="en-US" dirty="0"/>
              <a:t> </a:t>
            </a:r>
            <a:r>
              <a:rPr lang="en-US" i="1" dirty="0"/>
              <a:t>"Overview of the </a:t>
            </a:r>
            <a:r>
              <a:rPr lang="en-US" i="1" dirty="0" err="1"/>
              <a:t>DravidianLangTech</a:t>
            </a:r>
            <a:r>
              <a:rPr lang="en-US" i="1" dirty="0"/>
              <a:t> 2021 Shared Task on Offensive Language Identification in Dravidian Languages“</a:t>
            </a:r>
            <a:endParaRPr lang="en-US" dirty="0"/>
          </a:p>
          <a:p>
            <a:r>
              <a:rPr lang="en-US" b="1" dirty="0"/>
              <a:t>Summary:</a:t>
            </a:r>
            <a:br>
              <a:rPr lang="en-US" dirty="0"/>
            </a:br>
            <a:r>
              <a:rPr lang="en-US" sz="1600" dirty="0"/>
              <a:t>This study used machine learning models like SVM and Random Forest to detect offensive comments in Dravidian languages, but faced challenges with code-mixed and informal language.</a:t>
            </a:r>
            <a:endParaRPr lang="en-US" dirty="0"/>
          </a:p>
          <a:p>
            <a:pPr marL="285750" indent="-285750">
              <a:buFont typeface="Arial" panose="020B0604020202020204" pitchFamily="34" charset="0"/>
              <a:buChar char="•"/>
            </a:pPr>
            <a:endParaRPr lang="en-US" dirty="0"/>
          </a:p>
          <a:p>
            <a:pPr>
              <a:buNone/>
            </a:pPr>
            <a:r>
              <a:rPr lang="en-US" b="1" dirty="0"/>
              <a:t>2.  Paper:</a:t>
            </a:r>
            <a:r>
              <a:rPr lang="en-US" dirty="0"/>
              <a:t> </a:t>
            </a:r>
            <a:r>
              <a:rPr lang="en-US" i="1" dirty="0"/>
              <a:t>"Offensive Language Identification in Dravidian Languages Using Classical Machine Learning Techniques"</a:t>
            </a:r>
            <a:endParaRPr lang="en-US" dirty="0"/>
          </a:p>
          <a:p>
            <a:r>
              <a:rPr lang="en-US" b="1" dirty="0"/>
              <a:t>Summary:</a:t>
            </a:r>
            <a:br>
              <a:rPr lang="en-US" dirty="0"/>
            </a:br>
            <a:r>
              <a:rPr lang="en-US" dirty="0"/>
              <a:t>This study applied classical machine learning models like Logistic Regression and Naive Bayes to detect offensive comments in Tamil, Malayalam, and Kannada, but struggled with noisy and code-mixed user-generated content.</a:t>
            </a:r>
          </a:p>
          <a:p>
            <a:pPr marL="285750" lvl="0" indent="-285750" algn="l" rtl="0">
              <a:spcBef>
                <a:spcPts val="0"/>
              </a:spcBef>
              <a:spcAft>
                <a:spcPts val="0"/>
              </a:spcAft>
              <a:buFont typeface="Arial" panose="020B0604020202020204" pitchFamily="34" charset="0"/>
              <a:buChar char="•"/>
            </a:pPr>
            <a:endParaRPr dirty="0"/>
          </a:p>
        </p:txBody>
      </p:sp>
      <p:sp>
        <p:nvSpPr>
          <p:cNvPr id="350" name="Google Shape;350;p44">
            <a:extLst>
              <a:ext uri="{FF2B5EF4-FFF2-40B4-BE49-F238E27FC236}">
                <a16:creationId xmlns:a16="http://schemas.microsoft.com/office/drawing/2014/main" id="{1FFDA899-E28C-9E4B-7050-40CD5C48722F}"/>
              </a:ext>
            </a:extLst>
          </p:cNvPr>
          <p:cNvSpPr/>
          <p:nvPr/>
        </p:nvSpPr>
        <p:spPr>
          <a:xfrm>
            <a:off x="-780900" y="4360376"/>
            <a:ext cx="1569572" cy="1568699"/>
          </a:xfrm>
          <a:custGeom>
            <a:avLst/>
            <a:gdLst/>
            <a:ahLst/>
            <a:cxnLst/>
            <a:rect l="l" t="t" r="r" b="b"/>
            <a:pathLst>
              <a:path w="89079" h="89080" extrusionOk="0">
                <a:moveTo>
                  <a:pt x="44541" y="0"/>
                </a:moveTo>
                <a:cubicBezTo>
                  <a:pt x="44541" y="39592"/>
                  <a:pt x="39591" y="44542"/>
                  <a:pt x="0" y="44542"/>
                </a:cubicBezTo>
                <a:cubicBezTo>
                  <a:pt x="39591" y="44542"/>
                  <a:pt x="44541" y="49489"/>
                  <a:pt x="44541" y="89079"/>
                </a:cubicBezTo>
                <a:cubicBezTo>
                  <a:pt x="44541" y="49489"/>
                  <a:pt x="49488" y="44542"/>
                  <a:pt x="89078" y="44542"/>
                </a:cubicBezTo>
                <a:cubicBezTo>
                  <a:pt x="49488" y="44542"/>
                  <a:pt x="44541" y="39592"/>
                  <a:pt x="445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2399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47"/>
          <p:cNvSpPr txBox="1">
            <a:spLocks noGrp="1"/>
          </p:cNvSpPr>
          <p:nvPr>
            <p:ph type="title"/>
          </p:nvPr>
        </p:nvSpPr>
        <p:spPr>
          <a:xfrm>
            <a:off x="1519706" y="541977"/>
            <a:ext cx="7257245" cy="68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   </a:t>
            </a:r>
            <a:r>
              <a:rPr lang="en-IN" sz="4800" dirty="0"/>
              <a:t>Problem Statement</a:t>
            </a:r>
          </a:p>
        </p:txBody>
      </p:sp>
      <p:sp>
        <p:nvSpPr>
          <p:cNvPr id="378" name="Google Shape;378;p47"/>
          <p:cNvSpPr txBox="1">
            <a:spLocks noGrp="1"/>
          </p:cNvSpPr>
          <p:nvPr>
            <p:ph type="subTitle" idx="3"/>
          </p:nvPr>
        </p:nvSpPr>
        <p:spPr>
          <a:xfrm>
            <a:off x="416858" y="664977"/>
            <a:ext cx="1290917" cy="86965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6000" dirty="0"/>
              <a:t>03</a:t>
            </a:r>
            <a:endParaRPr sz="6000" dirty="0"/>
          </a:p>
        </p:txBody>
      </p:sp>
      <p:cxnSp>
        <p:nvCxnSpPr>
          <p:cNvPr id="382" name="Google Shape;382;p47"/>
          <p:cNvCxnSpPr/>
          <p:nvPr/>
        </p:nvCxnSpPr>
        <p:spPr>
          <a:xfrm rot="10800000">
            <a:off x="713300" y="1453900"/>
            <a:ext cx="7721700" cy="0"/>
          </a:xfrm>
          <a:prstGeom prst="straightConnector1">
            <a:avLst/>
          </a:prstGeom>
          <a:noFill/>
          <a:ln w="19050" cap="flat" cmpd="sng">
            <a:solidFill>
              <a:schemeClr val="dk1"/>
            </a:solidFill>
            <a:prstDash val="solid"/>
            <a:round/>
            <a:headEnd type="none" w="med" len="med"/>
            <a:tailEnd type="none" w="med" len="med"/>
          </a:ln>
        </p:spPr>
      </p:cxnSp>
      <p:sp>
        <p:nvSpPr>
          <p:cNvPr id="8" name="Google Shape;375;p47">
            <a:extLst>
              <a:ext uri="{FF2B5EF4-FFF2-40B4-BE49-F238E27FC236}">
                <a16:creationId xmlns:a16="http://schemas.microsoft.com/office/drawing/2014/main" id="{EFEE2CD5-0049-001E-8C8D-4A417033C22E}"/>
              </a:ext>
            </a:extLst>
          </p:cNvPr>
          <p:cNvSpPr txBox="1">
            <a:spLocks/>
          </p:cNvSpPr>
          <p:nvPr/>
        </p:nvSpPr>
        <p:spPr>
          <a:xfrm>
            <a:off x="141668" y="1893201"/>
            <a:ext cx="8841346" cy="22731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300"/>
              <a:buFont typeface="Archivo Black"/>
              <a:buNone/>
              <a:defRPr sz="3300" b="0" i="0" u="none" strike="noStrike" cap="none">
                <a:solidFill>
                  <a:schemeClr val="dk1"/>
                </a:solidFill>
                <a:latin typeface="Archivo Black"/>
                <a:ea typeface="Archivo Black"/>
                <a:cs typeface="Archivo Black"/>
                <a:sym typeface="Archivo Black"/>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IN" sz="2000" dirty="0">
                <a:latin typeface="Questrial" pitchFamily="2" charset="0"/>
                <a:ea typeface="Questrial" pitchFamily="2" charset="0"/>
                <a:cs typeface="Questrial" pitchFamily="2" charset="0"/>
              </a:rPr>
              <a:t>   </a:t>
            </a:r>
            <a:r>
              <a:rPr lang="en-IN" sz="2000" b="1" dirty="0">
                <a:latin typeface="Questrial" pitchFamily="2" charset="0"/>
                <a:ea typeface="Questrial" pitchFamily="2" charset="0"/>
                <a:cs typeface="Questrial" pitchFamily="2" charset="0"/>
              </a:rPr>
              <a:t>“</a:t>
            </a:r>
            <a:r>
              <a:rPr lang="en-US" sz="2000" b="1" dirty="0">
                <a:latin typeface="Questrial" pitchFamily="2" charset="0"/>
                <a:ea typeface="Questrial" pitchFamily="2" charset="0"/>
                <a:cs typeface="Questrial" pitchFamily="2" charset="0"/>
              </a:rPr>
              <a:t>Online abuse targeting women in Malayalam content is a growing concern, especially given that Malayalam is a low-resource language with limited tools for moderation. This project focuses on leveraging the MuRIL model alongside machine learning models like SVM, Logistic </a:t>
            </a:r>
            <a:r>
              <a:rPr lang="en-US" sz="2000" b="1" dirty="0" err="1">
                <a:latin typeface="Questrial" pitchFamily="2" charset="0"/>
                <a:ea typeface="Questrial" pitchFamily="2" charset="0"/>
                <a:cs typeface="Questrial" pitchFamily="2" charset="0"/>
              </a:rPr>
              <a:t>Regression,Linear</a:t>
            </a:r>
            <a:r>
              <a:rPr lang="en-US" sz="2000" b="1" dirty="0">
                <a:latin typeface="Questrial" pitchFamily="2" charset="0"/>
                <a:ea typeface="Questrial" pitchFamily="2" charset="0"/>
                <a:cs typeface="Questrial" pitchFamily="2" charset="0"/>
              </a:rPr>
              <a:t> SVC and </a:t>
            </a:r>
            <a:r>
              <a:rPr lang="en-US" sz="2000" b="1" dirty="0" err="1">
                <a:latin typeface="Questrial" pitchFamily="2" charset="0"/>
                <a:ea typeface="Questrial" pitchFamily="2" charset="0"/>
                <a:cs typeface="Questrial" pitchFamily="2" charset="0"/>
              </a:rPr>
              <a:t>XGBoost</a:t>
            </a:r>
            <a:r>
              <a:rPr lang="en-US" sz="2000" b="1" dirty="0">
                <a:latin typeface="Questrial" pitchFamily="2" charset="0"/>
                <a:ea typeface="Questrial" pitchFamily="2" charset="0"/>
                <a:cs typeface="Questrial" pitchFamily="2" charset="0"/>
              </a:rPr>
              <a:t> to effectively detect abusive comments against women, </a:t>
            </a:r>
            <a:r>
              <a:rPr lang="en-US" sz="2000" b="1" dirty="0" err="1">
                <a:latin typeface="Questrial" pitchFamily="2" charset="0"/>
                <a:ea typeface="Questrial" pitchFamily="2" charset="0"/>
                <a:cs typeface="Questrial" pitchFamily="2" charset="0"/>
              </a:rPr>
              <a:t>contributin</a:t>
            </a:r>
            <a:r>
              <a:rPr lang="en-US" sz="2000" b="1" dirty="0">
                <a:latin typeface="Questrial" pitchFamily="2" charset="0"/>
                <a:ea typeface="Questrial" pitchFamily="2" charset="0"/>
                <a:cs typeface="Questrial" pitchFamily="2" charset="0"/>
              </a:rPr>
              <a:t> to the creation of safer digital environments.</a:t>
            </a:r>
            <a:r>
              <a:rPr lang="en-IN" sz="2000" b="1" dirty="0">
                <a:latin typeface="Questrial" pitchFamily="2" charset="0"/>
                <a:ea typeface="Questrial" pitchFamily="2" charset="0"/>
                <a:cs typeface="Questrial" pitchFamily="2" charset="0"/>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48"/>
          <p:cNvSpPr txBox="1">
            <a:spLocks noGrp="1"/>
          </p:cNvSpPr>
          <p:nvPr>
            <p:ph type="title"/>
          </p:nvPr>
        </p:nvSpPr>
        <p:spPr>
          <a:xfrm>
            <a:off x="1570006" y="641117"/>
            <a:ext cx="7710900" cy="81278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800" dirty="0"/>
              <a:t>Objectives</a:t>
            </a:r>
            <a:endParaRPr sz="4800" dirty="0"/>
          </a:p>
        </p:txBody>
      </p:sp>
      <p:sp>
        <p:nvSpPr>
          <p:cNvPr id="405" name="Google Shape;405;p48"/>
          <p:cNvSpPr txBox="1">
            <a:spLocks noGrp="1"/>
          </p:cNvSpPr>
          <p:nvPr>
            <p:ph type="subTitle" idx="1"/>
          </p:nvPr>
        </p:nvSpPr>
        <p:spPr>
          <a:xfrm>
            <a:off x="367048" y="1813632"/>
            <a:ext cx="8661041" cy="2642456"/>
          </a:xfrm>
          <a:prstGeom prst="rect">
            <a:avLst/>
          </a:prstGeom>
        </p:spPr>
        <p:txBody>
          <a:bodyPr spcFirstLastPara="1" wrap="square" lIns="91425" tIns="91425" rIns="91425" bIns="91425" anchor="t" anchorCtr="0">
            <a:noAutofit/>
          </a:bodyPr>
          <a:lstStyle/>
          <a:p>
            <a:pPr marL="342900" lvl="0" indent="-342900" algn="l" rtl="0">
              <a:spcBef>
                <a:spcPts val="0"/>
              </a:spcBef>
              <a:spcAft>
                <a:spcPts val="0"/>
              </a:spcAft>
              <a:buFont typeface="+mj-lt"/>
              <a:buAutoNum type="arabicPeriod"/>
            </a:pPr>
            <a:r>
              <a:rPr lang="en-US" sz="1600" b="1" dirty="0"/>
              <a:t>Train MuRIL BERT Model</a:t>
            </a:r>
            <a:r>
              <a:rPr lang="en-US" sz="1600" dirty="0"/>
              <a:t>: Train the pre-trained MuRIL BERT model on the abusive comment dataset to accurately detect abusive language.</a:t>
            </a:r>
          </a:p>
          <a:p>
            <a:pPr marL="342900" lvl="0" indent="-342900" algn="l" rtl="0">
              <a:spcBef>
                <a:spcPts val="0"/>
              </a:spcBef>
              <a:spcAft>
                <a:spcPts val="0"/>
              </a:spcAft>
              <a:buFont typeface="+mj-lt"/>
              <a:buAutoNum type="arabicPeriod"/>
            </a:pPr>
            <a:endParaRPr lang="en-US" dirty="0"/>
          </a:p>
          <a:p>
            <a:pPr marL="342900" lvl="0" indent="-342900" algn="l" rtl="0">
              <a:spcBef>
                <a:spcPts val="0"/>
              </a:spcBef>
              <a:spcAft>
                <a:spcPts val="0"/>
              </a:spcAft>
              <a:buFont typeface="+mj-lt"/>
              <a:buAutoNum type="arabicPeriod"/>
            </a:pPr>
            <a:endParaRPr lang="en-US" dirty="0"/>
          </a:p>
          <a:p>
            <a:pPr marL="342900" lvl="0" indent="-342900" algn="l" rtl="0">
              <a:spcBef>
                <a:spcPts val="0"/>
              </a:spcBef>
              <a:spcAft>
                <a:spcPts val="0"/>
              </a:spcAft>
              <a:buFont typeface="+mj-lt"/>
              <a:buAutoNum type="arabicPeriod"/>
            </a:pPr>
            <a:r>
              <a:rPr lang="en-US" b="1" dirty="0"/>
              <a:t> Compare with Machine Learning </a:t>
            </a:r>
            <a:r>
              <a:rPr lang="en-US" b="1" dirty="0" err="1"/>
              <a:t>Models:</a:t>
            </a:r>
            <a:r>
              <a:rPr lang="en-US" dirty="0" err="1"/>
              <a:t>Compare</a:t>
            </a:r>
            <a:r>
              <a:rPr lang="en-US" dirty="0"/>
              <a:t> the trained Logistic Regression, SVM, and </a:t>
            </a:r>
            <a:r>
              <a:rPr lang="en-US" dirty="0" err="1"/>
              <a:t>XGBoost</a:t>
            </a:r>
            <a:r>
              <a:rPr lang="en-US" dirty="0"/>
              <a:t> models (using TF-IDF features) with the trained MuRIL BERT model based on accuracy, precision, recall, and F1-score to show the effectiveness of the deep learning model.</a:t>
            </a:r>
          </a:p>
          <a:p>
            <a:pPr marL="342900" lvl="0" indent="-342900" algn="l" rtl="0">
              <a:spcBef>
                <a:spcPts val="0"/>
              </a:spcBef>
              <a:spcAft>
                <a:spcPts val="0"/>
              </a:spcAft>
              <a:buFont typeface="+mj-lt"/>
              <a:buAutoNum type="arabicPeriod"/>
            </a:pPr>
            <a:endParaRPr lang="en-US" dirty="0"/>
          </a:p>
          <a:p>
            <a:pPr marL="342900" lvl="0" indent="-342900" algn="l" rtl="0">
              <a:spcBef>
                <a:spcPts val="0"/>
              </a:spcBef>
              <a:spcAft>
                <a:spcPts val="0"/>
              </a:spcAft>
              <a:buFont typeface="+mj-lt"/>
              <a:buAutoNum type="arabicPeriod"/>
            </a:pPr>
            <a:endParaRPr lang="en-US" dirty="0"/>
          </a:p>
          <a:p>
            <a:pPr marL="342900" lvl="0" indent="-342900" algn="l" rtl="0">
              <a:spcBef>
                <a:spcPts val="0"/>
              </a:spcBef>
              <a:spcAft>
                <a:spcPts val="0"/>
              </a:spcAft>
              <a:buFont typeface="+mj-lt"/>
              <a:buAutoNum type="arabicPeriod"/>
            </a:pPr>
            <a:r>
              <a:rPr lang="en-US" b="1" dirty="0"/>
              <a:t>Evaluate the </a:t>
            </a:r>
            <a:r>
              <a:rPr lang="en-US" b="1" dirty="0" err="1"/>
              <a:t>Model:</a:t>
            </a:r>
            <a:r>
              <a:rPr lang="en-US" dirty="0" err="1"/>
              <a:t>Evaluate</a:t>
            </a:r>
            <a:r>
              <a:rPr lang="en-US" dirty="0"/>
              <a:t> the final saved model using metrics like accuracy, precision, recall, and F1-score to ensure consistent and reliable performance.</a:t>
            </a:r>
          </a:p>
          <a:p>
            <a:pPr marL="342900" lvl="0" indent="-342900" algn="l" rtl="0">
              <a:spcBef>
                <a:spcPts val="0"/>
              </a:spcBef>
              <a:spcAft>
                <a:spcPts val="0"/>
              </a:spcAft>
              <a:buFont typeface="+mj-lt"/>
              <a:buAutoNum type="arabicPeriod"/>
            </a:pPr>
            <a:endParaRPr lang="en-US" dirty="0"/>
          </a:p>
          <a:p>
            <a:pPr marL="342900" lvl="0" indent="-342900" algn="l" rtl="0">
              <a:spcBef>
                <a:spcPts val="0"/>
              </a:spcBef>
              <a:spcAft>
                <a:spcPts val="0"/>
              </a:spcAft>
              <a:buFont typeface="+mj-lt"/>
              <a:buAutoNum type="arabicPeriod"/>
            </a:pPr>
            <a:endParaRPr dirty="0"/>
          </a:p>
        </p:txBody>
      </p:sp>
      <p:sp>
        <p:nvSpPr>
          <p:cNvPr id="411" name="Google Shape;411;p48"/>
          <p:cNvSpPr/>
          <p:nvPr/>
        </p:nvSpPr>
        <p:spPr>
          <a:xfrm>
            <a:off x="8132152" y="4227191"/>
            <a:ext cx="753831" cy="753617"/>
          </a:xfrm>
          <a:custGeom>
            <a:avLst/>
            <a:gdLst/>
            <a:ahLst/>
            <a:cxnLst/>
            <a:rect l="l" t="t" r="r" b="b"/>
            <a:pathLst>
              <a:path w="89079" h="89080" extrusionOk="0">
                <a:moveTo>
                  <a:pt x="44541" y="0"/>
                </a:moveTo>
                <a:cubicBezTo>
                  <a:pt x="44541" y="39592"/>
                  <a:pt x="39591" y="44542"/>
                  <a:pt x="0" y="44542"/>
                </a:cubicBezTo>
                <a:cubicBezTo>
                  <a:pt x="39591" y="44542"/>
                  <a:pt x="44541" y="49489"/>
                  <a:pt x="44541" y="89079"/>
                </a:cubicBezTo>
                <a:cubicBezTo>
                  <a:pt x="44541" y="49489"/>
                  <a:pt x="49488" y="44542"/>
                  <a:pt x="89078" y="44542"/>
                </a:cubicBezTo>
                <a:cubicBezTo>
                  <a:pt x="49488" y="44542"/>
                  <a:pt x="44541" y="39592"/>
                  <a:pt x="445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412" name="Google Shape;412;p48"/>
          <p:cNvCxnSpPr/>
          <p:nvPr/>
        </p:nvCxnSpPr>
        <p:spPr>
          <a:xfrm rot="10800000">
            <a:off x="713300" y="1453900"/>
            <a:ext cx="7721700" cy="0"/>
          </a:xfrm>
          <a:prstGeom prst="straightConnector1">
            <a:avLst/>
          </a:prstGeom>
          <a:noFill/>
          <a:ln w="19050" cap="flat" cmpd="sng">
            <a:solidFill>
              <a:schemeClr val="dk1"/>
            </a:solidFill>
            <a:prstDash val="solid"/>
            <a:round/>
            <a:headEnd type="none" w="med" len="med"/>
            <a:tailEnd type="none" w="med" len="med"/>
          </a:ln>
        </p:spPr>
      </p:cxnSp>
      <p:sp>
        <p:nvSpPr>
          <p:cNvPr id="12" name="Google Shape;378;p47">
            <a:extLst>
              <a:ext uri="{FF2B5EF4-FFF2-40B4-BE49-F238E27FC236}">
                <a16:creationId xmlns:a16="http://schemas.microsoft.com/office/drawing/2014/main" id="{7DFF87CC-D745-3792-43EC-86884E008E89}"/>
              </a:ext>
            </a:extLst>
          </p:cNvPr>
          <p:cNvSpPr txBox="1">
            <a:spLocks/>
          </p:cNvSpPr>
          <p:nvPr/>
        </p:nvSpPr>
        <p:spPr>
          <a:xfrm>
            <a:off x="416858" y="664977"/>
            <a:ext cx="1290917" cy="86965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0" indent="0" algn="ctr"/>
            <a:r>
              <a:rPr lang="en" sz="6000" dirty="0"/>
              <a:t>04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41">
          <a:extLst>
            <a:ext uri="{FF2B5EF4-FFF2-40B4-BE49-F238E27FC236}">
              <a16:creationId xmlns:a16="http://schemas.microsoft.com/office/drawing/2014/main" id="{FB69C1EB-45C0-0F4F-CC20-D12715025B96}"/>
            </a:ext>
          </a:extLst>
        </p:cNvPr>
        <p:cNvGrpSpPr/>
        <p:nvPr/>
      </p:nvGrpSpPr>
      <p:grpSpPr>
        <a:xfrm>
          <a:off x="0" y="0"/>
          <a:ext cx="0" cy="0"/>
          <a:chOff x="0" y="0"/>
          <a:chExt cx="0" cy="0"/>
        </a:xfrm>
      </p:grpSpPr>
      <p:sp>
        <p:nvSpPr>
          <p:cNvPr id="345" name="Google Shape;345;p44">
            <a:extLst>
              <a:ext uri="{FF2B5EF4-FFF2-40B4-BE49-F238E27FC236}">
                <a16:creationId xmlns:a16="http://schemas.microsoft.com/office/drawing/2014/main" id="{920BAB17-0B12-8EDA-B11B-BC066B753119}"/>
              </a:ext>
            </a:extLst>
          </p:cNvPr>
          <p:cNvSpPr txBox="1">
            <a:spLocks noGrp="1"/>
          </p:cNvSpPr>
          <p:nvPr>
            <p:ph type="title"/>
          </p:nvPr>
        </p:nvSpPr>
        <p:spPr>
          <a:xfrm>
            <a:off x="2203318" y="-154547"/>
            <a:ext cx="4633800" cy="153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Methodology</a:t>
            </a:r>
            <a:endParaRPr dirty="0"/>
          </a:p>
        </p:txBody>
      </p:sp>
      <p:sp>
        <p:nvSpPr>
          <p:cNvPr id="346" name="Google Shape;346;p44">
            <a:extLst>
              <a:ext uri="{FF2B5EF4-FFF2-40B4-BE49-F238E27FC236}">
                <a16:creationId xmlns:a16="http://schemas.microsoft.com/office/drawing/2014/main" id="{1B77BB10-3DB9-2A3C-2C03-50ED593E170C}"/>
              </a:ext>
            </a:extLst>
          </p:cNvPr>
          <p:cNvSpPr txBox="1">
            <a:spLocks noGrp="1"/>
          </p:cNvSpPr>
          <p:nvPr>
            <p:ph type="title" idx="3"/>
          </p:nvPr>
        </p:nvSpPr>
        <p:spPr>
          <a:xfrm>
            <a:off x="931063" y="-154547"/>
            <a:ext cx="1334400" cy="110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05</a:t>
            </a:r>
            <a:endParaRPr dirty="0"/>
          </a:p>
        </p:txBody>
      </p:sp>
      <p:sp>
        <p:nvSpPr>
          <p:cNvPr id="350" name="Google Shape;350;p44">
            <a:extLst>
              <a:ext uri="{FF2B5EF4-FFF2-40B4-BE49-F238E27FC236}">
                <a16:creationId xmlns:a16="http://schemas.microsoft.com/office/drawing/2014/main" id="{0F8BC545-3927-797B-1FF0-5ECE06D7A56A}"/>
              </a:ext>
            </a:extLst>
          </p:cNvPr>
          <p:cNvSpPr/>
          <p:nvPr/>
        </p:nvSpPr>
        <p:spPr>
          <a:xfrm>
            <a:off x="-780900" y="4360376"/>
            <a:ext cx="1569572" cy="1568699"/>
          </a:xfrm>
          <a:custGeom>
            <a:avLst/>
            <a:gdLst/>
            <a:ahLst/>
            <a:cxnLst/>
            <a:rect l="l" t="t" r="r" b="b"/>
            <a:pathLst>
              <a:path w="89079" h="89080" extrusionOk="0">
                <a:moveTo>
                  <a:pt x="44541" y="0"/>
                </a:moveTo>
                <a:cubicBezTo>
                  <a:pt x="44541" y="39592"/>
                  <a:pt x="39591" y="44542"/>
                  <a:pt x="0" y="44542"/>
                </a:cubicBezTo>
                <a:cubicBezTo>
                  <a:pt x="39591" y="44542"/>
                  <a:pt x="44541" y="49489"/>
                  <a:pt x="44541" y="89079"/>
                </a:cubicBezTo>
                <a:cubicBezTo>
                  <a:pt x="44541" y="49489"/>
                  <a:pt x="49488" y="44542"/>
                  <a:pt x="89078" y="44542"/>
                </a:cubicBezTo>
                <a:cubicBezTo>
                  <a:pt x="49488" y="44542"/>
                  <a:pt x="44541" y="39592"/>
                  <a:pt x="445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 name="Google Shape;467;p51">
            <a:extLst>
              <a:ext uri="{FF2B5EF4-FFF2-40B4-BE49-F238E27FC236}">
                <a16:creationId xmlns:a16="http://schemas.microsoft.com/office/drawing/2014/main" id="{250561DC-394B-5E6F-13E2-ABB9B8EBE890}"/>
              </a:ext>
            </a:extLst>
          </p:cNvPr>
          <p:cNvCxnSpPr/>
          <p:nvPr/>
        </p:nvCxnSpPr>
        <p:spPr>
          <a:xfrm rot="10800000">
            <a:off x="387129" y="826091"/>
            <a:ext cx="7431900" cy="0"/>
          </a:xfrm>
          <a:prstGeom prst="straightConnector1">
            <a:avLst/>
          </a:prstGeom>
          <a:noFill/>
          <a:ln w="19050" cap="flat" cmpd="sng">
            <a:solidFill>
              <a:schemeClr val="dk1"/>
            </a:solidFill>
            <a:prstDash val="solid"/>
            <a:round/>
            <a:headEnd type="none" w="med" len="med"/>
            <a:tailEnd type="none" w="med" len="med"/>
          </a:ln>
        </p:spPr>
      </p:cxnSp>
      <p:sp>
        <p:nvSpPr>
          <p:cNvPr id="7" name="Google Shape;470;p51">
            <a:extLst>
              <a:ext uri="{FF2B5EF4-FFF2-40B4-BE49-F238E27FC236}">
                <a16:creationId xmlns:a16="http://schemas.microsoft.com/office/drawing/2014/main" id="{CC4976A3-6193-095B-2193-9672704028F1}"/>
              </a:ext>
            </a:extLst>
          </p:cNvPr>
          <p:cNvSpPr txBox="1">
            <a:spLocks/>
          </p:cNvSpPr>
          <p:nvPr/>
        </p:nvSpPr>
        <p:spPr>
          <a:xfrm>
            <a:off x="371595" y="954253"/>
            <a:ext cx="7704000" cy="735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Archivo Black"/>
              <a:buNone/>
              <a:defRPr sz="5000" b="0" i="0" u="none" strike="noStrike" cap="none">
                <a:solidFill>
                  <a:schemeClr val="dk1"/>
                </a:solidFill>
                <a:latin typeface="Archivo Black"/>
                <a:ea typeface="Archivo Black"/>
                <a:cs typeface="Archivo Black"/>
                <a:sym typeface="Archivo Black"/>
              </a:defRPr>
            </a:lvl1pPr>
            <a:lvl2pPr marR="0" lvl="1" algn="ctr" rtl="0">
              <a:lnSpc>
                <a:spcPct val="100000"/>
              </a:lnSpc>
              <a:spcBef>
                <a:spcPts val="0"/>
              </a:spcBef>
              <a:spcAft>
                <a:spcPts val="0"/>
              </a:spcAft>
              <a:buClr>
                <a:schemeClr val="dk1"/>
              </a:buClr>
              <a:buSzPts val="3600"/>
              <a:buFont typeface="Bebas Neue"/>
              <a:buNone/>
              <a:defRPr sz="36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3600"/>
              <a:buFont typeface="Bebas Neue"/>
              <a:buNone/>
              <a:defRPr sz="36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3600"/>
              <a:buFont typeface="Bebas Neue"/>
              <a:buNone/>
              <a:defRPr sz="36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3600"/>
              <a:buFont typeface="Bebas Neue"/>
              <a:buNone/>
              <a:defRPr sz="36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3600"/>
              <a:buFont typeface="Bebas Neue"/>
              <a:buNone/>
              <a:defRPr sz="36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3600"/>
              <a:buFont typeface="Bebas Neue"/>
              <a:buNone/>
              <a:defRPr sz="36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3600"/>
              <a:buFont typeface="Bebas Neue"/>
              <a:buNone/>
              <a:defRPr sz="36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3600"/>
              <a:buFont typeface="Bebas Neue"/>
              <a:buNone/>
              <a:defRPr sz="3600" b="0" i="0" u="none" strike="noStrike" cap="none">
                <a:solidFill>
                  <a:schemeClr val="dk1"/>
                </a:solidFill>
                <a:latin typeface="Bebas Neue"/>
                <a:ea typeface="Bebas Neue"/>
                <a:cs typeface="Bebas Neue"/>
                <a:sym typeface="Bebas Neue"/>
              </a:defRPr>
            </a:lvl9pPr>
          </a:lstStyle>
          <a:p>
            <a:r>
              <a:rPr lang="en-US" sz="2800" dirty="0"/>
              <a:t>Data</a:t>
            </a:r>
            <a:endParaRPr lang="en-IN" sz="2800" dirty="0"/>
          </a:p>
        </p:txBody>
      </p:sp>
      <p:sp>
        <p:nvSpPr>
          <p:cNvPr id="3" name="TextBox 2">
            <a:extLst>
              <a:ext uri="{FF2B5EF4-FFF2-40B4-BE49-F238E27FC236}">
                <a16:creationId xmlns:a16="http://schemas.microsoft.com/office/drawing/2014/main" id="{73B848ED-3D5A-6B03-BA1F-33E80C845A44}"/>
              </a:ext>
            </a:extLst>
          </p:cNvPr>
          <p:cNvSpPr txBox="1"/>
          <p:nvPr/>
        </p:nvSpPr>
        <p:spPr>
          <a:xfrm>
            <a:off x="508715" y="1801591"/>
            <a:ext cx="7566880" cy="1815882"/>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400" b="0" i="0" u="none" strike="noStrike" cap="none" normalizeH="0" baseline="0" dirty="0">
                <a:ln>
                  <a:noFill/>
                </a:ln>
                <a:solidFill>
                  <a:schemeClr val="tx1"/>
                </a:solidFill>
                <a:effectLst/>
                <a:latin typeface="Arial" panose="020B0604020202020204" pitchFamily="34" charset="0"/>
              </a:rPr>
              <a:t>The dataset used in this study contains Malayalam data with 1424 non-abusive and 1366 abusive samples.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sz="1400" dirty="0">
                <a:latin typeface="+mj-lt"/>
              </a:rPr>
              <a:t>The labels in the dataset are categorized as abusive and non-abusive.</a:t>
            </a:r>
            <a:endParaRPr kumimoji="0" lang="en-US" altLang="en-US" sz="1400" b="0" i="0" u="none" strike="noStrike" cap="none" normalizeH="0" baseline="0" dirty="0">
              <a:ln>
                <a:noFill/>
              </a:ln>
              <a:solidFill>
                <a:schemeClr val="tx1"/>
              </a:solidFill>
              <a:effectLst/>
              <a:latin typeface="+mj-l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lang="en-US" altLang="en-US" sz="1400" dirty="0">
              <a:solidFill>
                <a:schemeClr val="tx1"/>
              </a:solidFill>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sz="1400" dirty="0">
                <a:latin typeface="+mj-lt"/>
              </a:rPr>
              <a:t>The dataset was provided by the </a:t>
            </a:r>
            <a:r>
              <a:rPr lang="en-US" sz="1400" b="1" dirty="0">
                <a:latin typeface="+mj-lt"/>
              </a:rPr>
              <a:t>Dravidian </a:t>
            </a:r>
            <a:r>
              <a:rPr lang="en-US" sz="1400" b="1" dirty="0" err="1">
                <a:latin typeface="+mj-lt"/>
              </a:rPr>
              <a:t>LangTech</a:t>
            </a:r>
            <a:r>
              <a:rPr lang="en-US" sz="1400" b="1" dirty="0">
                <a:latin typeface="+mj-lt"/>
              </a:rPr>
              <a:t> 2025 Conference</a:t>
            </a:r>
            <a:r>
              <a:rPr lang="en-US" sz="1400" dirty="0">
                <a:latin typeface="+mj-lt"/>
              </a:rPr>
              <a:t> as part of the shared task.</a:t>
            </a:r>
            <a:endParaRPr lang="en-US" altLang="en-US" sz="1400" dirty="0">
              <a:solidFill>
                <a:schemeClr val="tx1"/>
              </a:solidFill>
              <a:latin typeface="+mj-lt"/>
            </a:endParaRPr>
          </a:p>
          <a:p>
            <a:pPr marL="0" marR="0" lvl="0" indent="0" algn="l" defTabSz="914400" rtl="0" eaLnBrk="0" fontAlgn="base" latinLnBrk="0" hangingPunct="0">
              <a:lnSpc>
                <a:spcPct val="100000"/>
              </a:lnSpc>
              <a:spcBef>
                <a:spcPct val="0"/>
              </a:spcBef>
              <a:spcAft>
                <a:spcPct val="0"/>
              </a:spcAft>
              <a:buClrTx/>
              <a:buSzTx/>
              <a:tabLst/>
            </a:pPr>
            <a:endParaRPr lang="en-US" altLang="en-US" sz="1400" dirty="0">
              <a:solidFill>
                <a:schemeClr val="tx1"/>
              </a:solidFill>
              <a:latin typeface="Arial" panose="020B0604020202020204" pitchFamily="34" charset="0"/>
            </a:endParaRPr>
          </a:p>
        </p:txBody>
      </p:sp>
    </p:spTree>
    <p:extLst>
      <p:ext uri="{BB962C8B-B14F-4D97-AF65-F5344CB8AC3E}">
        <p14:creationId xmlns:p14="http://schemas.microsoft.com/office/powerpoint/2010/main" val="753625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41">
          <a:extLst>
            <a:ext uri="{FF2B5EF4-FFF2-40B4-BE49-F238E27FC236}">
              <a16:creationId xmlns:a16="http://schemas.microsoft.com/office/drawing/2014/main" id="{4E126886-5A1D-1160-A36F-4A3BEA5F8B86}"/>
            </a:ext>
          </a:extLst>
        </p:cNvPr>
        <p:cNvGrpSpPr/>
        <p:nvPr/>
      </p:nvGrpSpPr>
      <p:grpSpPr>
        <a:xfrm>
          <a:off x="0" y="0"/>
          <a:ext cx="0" cy="0"/>
          <a:chOff x="0" y="0"/>
          <a:chExt cx="0" cy="0"/>
        </a:xfrm>
      </p:grpSpPr>
      <p:sp>
        <p:nvSpPr>
          <p:cNvPr id="345" name="Google Shape;345;p44">
            <a:extLst>
              <a:ext uri="{FF2B5EF4-FFF2-40B4-BE49-F238E27FC236}">
                <a16:creationId xmlns:a16="http://schemas.microsoft.com/office/drawing/2014/main" id="{7A2CF100-81D1-610A-9931-A63549FE4B7F}"/>
              </a:ext>
            </a:extLst>
          </p:cNvPr>
          <p:cNvSpPr txBox="1">
            <a:spLocks noGrp="1"/>
          </p:cNvSpPr>
          <p:nvPr>
            <p:ph type="title"/>
          </p:nvPr>
        </p:nvSpPr>
        <p:spPr>
          <a:xfrm>
            <a:off x="2203318" y="-154547"/>
            <a:ext cx="4633800" cy="153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Methodology</a:t>
            </a:r>
            <a:endParaRPr dirty="0"/>
          </a:p>
        </p:txBody>
      </p:sp>
      <p:sp>
        <p:nvSpPr>
          <p:cNvPr id="346" name="Google Shape;346;p44">
            <a:extLst>
              <a:ext uri="{FF2B5EF4-FFF2-40B4-BE49-F238E27FC236}">
                <a16:creationId xmlns:a16="http://schemas.microsoft.com/office/drawing/2014/main" id="{4F080E86-8157-BE09-5032-CA6001F30D25}"/>
              </a:ext>
            </a:extLst>
          </p:cNvPr>
          <p:cNvSpPr txBox="1">
            <a:spLocks noGrp="1"/>
          </p:cNvSpPr>
          <p:nvPr>
            <p:ph type="title" idx="3"/>
          </p:nvPr>
        </p:nvSpPr>
        <p:spPr>
          <a:xfrm>
            <a:off x="931063" y="-154547"/>
            <a:ext cx="1334400" cy="110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05</a:t>
            </a:r>
            <a:endParaRPr dirty="0"/>
          </a:p>
        </p:txBody>
      </p:sp>
      <p:sp>
        <p:nvSpPr>
          <p:cNvPr id="350" name="Google Shape;350;p44">
            <a:extLst>
              <a:ext uri="{FF2B5EF4-FFF2-40B4-BE49-F238E27FC236}">
                <a16:creationId xmlns:a16="http://schemas.microsoft.com/office/drawing/2014/main" id="{67AF663F-4E01-D5DB-4D7E-AB86BE6BD5DF}"/>
              </a:ext>
            </a:extLst>
          </p:cNvPr>
          <p:cNvSpPr/>
          <p:nvPr/>
        </p:nvSpPr>
        <p:spPr>
          <a:xfrm>
            <a:off x="-780900" y="4360376"/>
            <a:ext cx="1569572" cy="1568699"/>
          </a:xfrm>
          <a:custGeom>
            <a:avLst/>
            <a:gdLst/>
            <a:ahLst/>
            <a:cxnLst/>
            <a:rect l="l" t="t" r="r" b="b"/>
            <a:pathLst>
              <a:path w="89079" h="89080" extrusionOk="0">
                <a:moveTo>
                  <a:pt x="44541" y="0"/>
                </a:moveTo>
                <a:cubicBezTo>
                  <a:pt x="44541" y="39592"/>
                  <a:pt x="39591" y="44542"/>
                  <a:pt x="0" y="44542"/>
                </a:cubicBezTo>
                <a:cubicBezTo>
                  <a:pt x="39591" y="44542"/>
                  <a:pt x="44541" y="49489"/>
                  <a:pt x="44541" y="89079"/>
                </a:cubicBezTo>
                <a:cubicBezTo>
                  <a:pt x="44541" y="49489"/>
                  <a:pt x="49488" y="44542"/>
                  <a:pt x="89078" y="44542"/>
                </a:cubicBezTo>
                <a:cubicBezTo>
                  <a:pt x="49488" y="44542"/>
                  <a:pt x="44541" y="39592"/>
                  <a:pt x="445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 name="Picture 4">
            <a:extLst>
              <a:ext uri="{FF2B5EF4-FFF2-40B4-BE49-F238E27FC236}">
                <a16:creationId xmlns:a16="http://schemas.microsoft.com/office/drawing/2014/main" id="{E1E5004F-E8B5-369C-F7A6-271ACFE70B03}"/>
              </a:ext>
            </a:extLst>
          </p:cNvPr>
          <p:cNvPicPr>
            <a:picLocks noChangeAspect="1"/>
          </p:cNvPicPr>
          <p:nvPr/>
        </p:nvPicPr>
        <p:blipFill>
          <a:blip r:embed="rId3"/>
          <a:stretch>
            <a:fillRect/>
          </a:stretch>
        </p:blipFill>
        <p:spPr>
          <a:xfrm>
            <a:off x="2502701" y="954253"/>
            <a:ext cx="2867784" cy="4093871"/>
          </a:xfrm>
          <a:prstGeom prst="rect">
            <a:avLst/>
          </a:prstGeom>
        </p:spPr>
      </p:pic>
      <p:cxnSp>
        <p:nvCxnSpPr>
          <p:cNvPr id="6" name="Google Shape;467;p51">
            <a:extLst>
              <a:ext uri="{FF2B5EF4-FFF2-40B4-BE49-F238E27FC236}">
                <a16:creationId xmlns:a16="http://schemas.microsoft.com/office/drawing/2014/main" id="{6D880B14-79CF-7666-A050-7816B57D09AE}"/>
              </a:ext>
            </a:extLst>
          </p:cNvPr>
          <p:cNvCxnSpPr/>
          <p:nvPr/>
        </p:nvCxnSpPr>
        <p:spPr>
          <a:xfrm rot="10800000">
            <a:off x="387129" y="826091"/>
            <a:ext cx="7431900" cy="0"/>
          </a:xfrm>
          <a:prstGeom prst="straightConnector1">
            <a:avLst/>
          </a:prstGeom>
          <a:noFill/>
          <a:ln w="19050" cap="flat" cmpd="sng">
            <a:solidFill>
              <a:schemeClr val="dk1"/>
            </a:solidFill>
            <a:prstDash val="solid"/>
            <a:round/>
            <a:headEnd type="none" w="med" len="med"/>
            <a:tailEnd type="none" w="med" len="med"/>
          </a:ln>
        </p:spPr>
      </p:cxnSp>
      <p:sp>
        <p:nvSpPr>
          <p:cNvPr id="7" name="Google Shape;470;p51">
            <a:extLst>
              <a:ext uri="{FF2B5EF4-FFF2-40B4-BE49-F238E27FC236}">
                <a16:creationId xmlns:a16="http://schemas.microsoft.com/office/drawing/2014/main" id="{B17AB92E-E9A9-9E4F-7959-C22052CE8475}"/>
              </a:ext>
            </a:extLst>
          </p:cNvPr>
          <p:cNvSpPr txBox="1">
            <a:spLocks/>
          </p:cNvSpPr>
          <p:nvPr/>
        </p:nvSpPr>
        <p:spPr>
          <a:xfrm>
            <a:off x="371595" y="954253"/>
            <a:ext cx="7704000" cy="735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Archivo Black"/>
              <a:buNone/>
              <a:defRPr sz="5000" b="0" i="0" u="none" strike="noStrike" cap="none">
                <a:solidFill>
                  <a:schemeClr val="dk1"/>
                </a:solidFill>
                <a:latin typeface="Archivo Black"/>
                <a:ea typeface="Archivo Black"/>
                <a:cs typeface="Archivo Black"/>
                <a:sym typeface="Archivo Black"/>
              </a:defRPr>
            </a:lvl1pPr>
            <a:lvl2pPr marR="0" lvl="1" algn="ctr" rtl="0">
              <a:lnSpc>
                <a:spcPct val="100000"/>
              </a:lnSpc>
              <a:spcBef>
                <a:spcPts val="0"/>
              </a:spcBef>
              <a:spcAft>
                <a:spcPts val="0"/>
              </a:spcAft>
              <a:buClr>
                <a:schemeClr val="dk1"/>
              </a:buClr>
              <a:buSzPts val="3600"/>
              <a:buFont typeface="Bebas Neue"/>
              <a:buNone/>
              <a:defRPr sz="36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3600"/>
              <a:buFont typeface="Bebas Neue"/>
              <a:buNone/>
              <a:defRPr sz="36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3600"/>
              <a:buFont typeface="Bebas Neue"/>
              <a:buNone/>
              <a:defRPr sz="36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3600"/>
              <a:buFont typeface="Bebas Neue"/>
              <a:buNone/>
              <a:defRPr sz="36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3600"/>
              <a:buFont typeface="Bebas Neue"/>
              <a:buNone/>
              <a:defRPr sz="36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3600"/>
              <a:buFont typeface="Bebas Neue"/>
              <a:buNone/>
              <a:defRPr sz="36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3600"/>
              <a:buFont typeface="Bebas Neue"/>
              <a:buNone/>
              <a:defRPr sz="36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3600"/>
              <a:buFont typeface="Bebas Neue"/>
              <a:buNone/>
              <a:defRPr sz="3600" b="0" i="0" u="none" strike="noStrike" cap="none">
                <a:solidFill>
                  <a:schemeClr val="dk1"/>
                </a:solidFill>
                <a:latin typeface="Bebas Neue"/>
                <a:ea typeface="Bebas Neue"/>
                <a:cs typeface="Bebas Neue"/>
                <a:sym typeface="Bebas Neue"/>
              </a:defRPr>
            </a:lvl9pPr>
          </a:lstStyle>
          <a:p>
            <a:r>
              <a:rPr lang="en-US" sz="2800" dirty="0"/>
              <a:t>W</a:t>
            </a:r>
            <a:r>
              <a:rPr lang="en-IN" sz="2800" dirty="0" err="1"/>
              <a:t>orkflow</a:t>
            </a:r>
            <a:endParaRPr lang="en-IN" sz="2800" dirty="0"/>
          </a:p>
        </p:txBody>
      </p:sp>
    </p:spTree>
    <p:extLst>
      <p:ext uri="{BB962C8B-B14F-4D97-AF65-F5344CB8AC3E}">
        <p14:creationId xmlns:p14="http://schemas.microsoft.com/office/powerpoint/2010/main" val="938512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3">
          <a:extLst>
            <a:ext uri="{FF2B5EF4-FFF2-40B4-BE49-F238E27FC236}">
              <a16:creationId xmlns:a16="http://schemas.microsoft.com/office/drawing/2014/main" id="{415C62C8-229C-FEB5-35F2-8DA5181ECB2F}"/>
            </a:ext>
          </a:extLst>
        </p:cNvPr>
        <p:cNvGrpSpPr/>
        <p:nvPr/>
      </p:nvGrpSpPr>
      <p:grpSpPr>
        <a:xfrm>
          <a:off x="0" y="0"/>
          <a:ext cx="0" cy="0"/>
          <a:chOff x="0" y="0"/>
          <a:chExt cx="0" cy="0"/>
        </a:xfrm>
      </p:grpSpPr>
      <p:sp>
        <p:nvSpPr>
          <p:cNvPr id="404" name="Google Shape;404;p48">
            <a:extLst>
              <a:ext uri="{FF2B5EF4-FFF2-40B4-BE49-F238E27FC236}">
                <a16:creationId xmlns:a16="http://schemas.microsoft.com/office/drawing/2014/main" id="{4B0E2991-8989-C7EC-00CE-99B14348AF22}"/>
              </a:ext>
            </a:extLst>
          </p:cNvPr>
          <p:cNvSpPr txBox="1">
            <a:spLocks noGrp="1"/>
          </p:cNvSpPr>
          <p:nvPr>
            <p:ph type="title"/>
          </p:nvPr>
        </p:nvSpPr>
        <p:spPr>
          <a:xfrm>
            <a:off x="1570006" y="641117"/>
            <a:ext cx="7710900" cy="81278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800" dirty="0"/>
              <a:t>Results</a:t>
            </a:r>
            <a:endParaRPr sz="4800" dirty="0"/>
          </a:p>
        </p:txBody>
      </p:sp>
      <p:sp>
        <p:nvSpPr>
          <p:cNvPr id="405" name="Google Shape;405;p48">
            <a:extLst>
              <a:ext uri="{FF2B5EF4-FFF2-40B4-BE49-F238E27FC236}">
                <a16:creationId xmlns:a16="http://schemas.microsoft.com/office/drawing/2014/main" id="{9F4256B7-7D9A-FAE7-3B17-ED4ECEE00F31}"/>
              </a:ext>
            </a:extLst>
          </p:cNvPr>
          <p:cNvSpPr txBox="1">
            <a:spLocks noGrp="1"/>
          </p:cNvSpPr>
          <p:nvPr>
            <p:ph type="subTitle" idx="1"/>
          </p:nvPr>
        </p:nvSpPr>
        <p:spPr>
          <a:xfrm>
            <a:off x="360608" y="1558491"/>
            <a:ext cx="8667481" cy="2897597"/>
          </a:xfrm>
          <a:prstGeom prst="rect">
            <a:avLst/>
          </a:prstGeom>
        </p:spPr>
        <p:txBody>
          <a:bodyPr spcFirstLastPara="1" wrap="square" lIns="91425" tIns="91425" rIns="91425" bIns="91425" anchor="t" anchorCtr="0">
            <a:noAutofit/>
          </a:bodyPr>
          <a:lstStyle/>
          <a:p>
            <a:pPr marL="596900" indent="-457200">
              <a:buFont typeface="Arial" panose="020B0604020202020204" pitchFamily="34" charset="0"/>
              <a:buChar char="•"/>
            </a:pPr>
            <a:r>
              <a:rPr lang="en-IN" sz="2000" b="1" dirty="0"/>
              <a:t>Model Performance Metrics</a:t>
            </a:r>
            <a:r>
              <a:rPr lang="en-IN" sz="2000" dirty="0"/>
              <a:t>:</a:t>
            </a:r>
            <a:r>
              <a:rPr lang="en-US" dirty="0">
                <a:latin typeface="+mj-lt"/>
              </a:rPr>
              <a:t>The model achieved an accuracy of </a:t>
            </a:r>
            <a:r>
              <a:rPr lang="en-US" b="1" dirty="0">
                <a:latin typeface="+mj-lt"/>
              </a:rPr>
              <a:t>77.76%. </a:t>
            </a:r>
            <a:r>
              <a:rPr lang="en-US" dirty="0">
                <a:latin typeface="+mj-lt"/>
              </a:rPr>
              <a:t>and The F1-score of the model was </a:t>
            </a:r>
            <a:r>
              <a:rPr lang="en-US" b="1" dirty="0">
                <a:latin typeface="+mj-lt"/>
              </a:rPr>
              <a:t>77.65%</a:t>
            </a:r>
            <a:r>
              <a:rPr lang="en-US" dirty="0">
                <a:latin typeface="+mj-lt"/>
              </a:rPr>
              <a:t>.</a:t>
            </a:r>
          </a:p>
          <a:p>
            <a:pPr marL="342900" lvl="0" indent="-342900" algn="l" rtl="0">
              <a:spcBef>
                <a:spcPts val="0"/>
              </a:spcBef>
              <a:spcAft>
                <a:spcPts val="0"/>
              </a:spcAft>
              <a:buFont typeface="Arial" panose="020B0604020202020204" pitchFamily="34" charset="0"/>
              <a:buChar char="•"/>
            </a:pPr>
            <a:endParaRPr lang="en-US" dirty="0"/>
          </a:p>
          <a:p>
            <a:pPr marL="342900" lvl="0" indent="-342900" algn="l" rtl="0">
              <a:spcBef>
                <a:spcPts val="0"/>
              </a:spcBef>
              <a:spcAft>
                <a:spcPts val="0"/>
              </a:spcAft>
              <a:buFont typeface="Arial" panose="020B0604020202020204" pitchFamily="34" charset="0"/>
              <a:buChar char="•"/>
            </a:pPr>
            <a:r>
              <a:rPr lang="en-US" b="1" dirty="0"/>
              <a:t> </a:t>
            </a:r>
            <a:r>
              <a:rPr lang="en-IN" sz="2000" dirty="0"/>
              <a:t> </a:t>
            </a:r>
            <a:r>
              <a:rPr lang="en-IN" sz="2000" b="1" dirty="0"/>
              <a:t>Best Model Comparison</a:t>
            </a:r>
            <a:r>
              <a:rPr lang="en-IN" sz="2000" dirty="0"/>
              <a:t>:</a:t>
            </a:r>
            <a:r>
              <a:rPr lang="en-US" dirty="0">
                <a:latin typeface="+mj-lt"/>
              </a:rPr>
              <a:t>After evaluating multiple models (Fine-tuned </a:t>
            </a:r>
            <a:r>
              <a:rPr lang="en-US" b="1" dirty="0">
                <a:latin typeface="+mj-lt"/>
              </a:rPr>
              <a:t>MuRIL</a:t>
            </a:r>
            <a:r>
              <a:rPr lang="en-US" dirty="0">
                <a:latin typeface="+mj-lt"/>
              </a:rPr>
              <a:t>, </a:t>
            </a:r>
            <a:r>
              <a:rPr lang="en-US" b="1" dirty="0">
                <a:latin typeface="+mj-lt"/>
              </a:rPr>
              <a:t>Logistic Regression</a:t>
            </a:r>
            <a:r>
              <a:rPr lang="en-US" dirty="0">
                <a:latin typeface="+mj-lt"/>
              </a:rPr>
              <a:t>, </a:t>
            </a:r>
            <a:r>
              <a:rPr lang="en-US" b="1" dirty="0">
                <a:latin typeface="+mj-lt"/>
              </a:rPr>
              <a:t>SVM</a:t>
            </a:r>
            <a:r>
              <a:rPr lang="en-US" dirty="0">
                <a:latin typeface="+mj-lt"/>
              </a:rPr>
              <a:t>, </a:t>
            </a:r>
            <a:r>
              <a:rPr lang="en-US" b="1" dirty="0">
                <a:latin typeface="+mj-lt"/>
              </a:rPr>
              <a:t>Linear SVC</a:t>
            </a:r>
            <a:r>
              <a:rPr lang="en-US" dirty="0">
                <a:latin typeface="+mj-lt"/>
              </a:rPr>
              <a:t>, and     </a:t>
            </a:r>
            <a:r>
              <a:rPr lang="en-US" b="1" dirty="0" err="1">
                <a:latin typeface="+mj-lt"/>
              </a:rPr>
              <a:t>XGBoost</a:t>
            </a:r>
            <a:r>
              <a:rPr lang="en-US" dirty="0">
                <a:latin typeface="+mj-lt"/>
              </a:rPr>
              <a:t>), the </a:t>
            </a:r>
            <a:r>
              <a:rPr lang="en-US" b="1" dirty="0">
                <a:latin typeface="+mj-lt"/>
              </a:rPr>
              <a:t>Fine-tuned MuRIL</a:t>
            </a:r>
            <a:r>
              <a:rPr lang="en-US" dirty="0">
                <a:latin typeface="+mj-lt"/>
              </a:rPr>
              <a:t> model achieved the highest performance</a:t>
            </a:r>
          </a:p>
          <a:p>
            <a:pPr marL="285750" lvl="0" indent="-285750" algn="l" rtl="0">
              <a:spcBef>
                <a:spcPts val="0"/>
              </a:spcBef>
              <a:spcAft>
                <a:spcPts val="0"/>
              </a:spcAft>
              <a:buFont typeface="Arial" panose="020B0604020202020204" pitchFamily="34" charset="0"/>
              <a:buChar char="•"/>
            </a:pPr>
            <a:endParaRPr lang="en-US" dirty="0"/>
          </a:p>
          <a:p>
            <a:pPr lvl="0" indent="-457200" algn="l" rtl="0">
              <a:spcBef>
                <a:spcPts val="0"/>
              </a:spcBef>
              <a:spcAft>
                <a:spcPts val="0"/>
              </a:spcAft>
              <a:buFont typeface="Arial" panose="020B0604020202020204" pitchFamily="34" charset="0"/>
              <a:buChar char="•"/>
            </a:pPr>
            <a:r>
              <a:rPr lang="en-IN" sz="2000" b="1" dirty="0"/>
              <a:t>Visual Representations</a:t>
            </a:r>
            <a:r>
              <a:rPr lang="en-IN" sz="2000" dirty="0"/>
              <a:t>:</a:t>
            </a:r>
            <a:endParaRPr lang="en-US" sz="2000" dirty="0"/>
          </a:p>
          <a:p>
            <a:pPr marL="342900" lvl="0" indent="-342900" algn="l" rtl="0">
              <a:spcBef>
                <a:spcPts val="0"/>
              </a:spcBef>
              <a:spcAft>
                <a:spcPts val="0"/>
              </a:spcAft>
              <a:buFont typeface="+mj-lt"/>
              <a:buAutoNum type="arabicPeriod"/>
            </a:pPr>
            <a:endParaRPr dirty="0"/>
          </a:p>
        </p:txBody>
      </p:sp>
      <p:sp>
        <p:nvSpPr>
          <p:cNvPr id="411" name="Google Shape;411;p48">
            <a:extLst>
              <a:ext uri="{FF2B5EF4-FFF2-40B4-BE49-F238E27FC236}">
                <a16:creationId xmlns:a16="http://schemas.microsoft.com/office/drawing/2014/main" id="{7D44E109-992A-A8FA-66E8-F38B39F9BABF}"/>
              </a:ext>
            </a:extLst>
          </p:cNvPr>
          <p:cNvSpPr/>
          <p:nvPr/>
        </p:nvSpPr>
        <p:spPr>
          <a:xfrm>
            <a:off x="8132152" y="4227191"/>
            <a:ext cx="753831" cy="753617"/>
          </a:xfrm>
          <a:custGeom>
            <a:avLst/>
            <a:gdLst/>
            <a:ahLst/>
            <a:cxnLst/>
            <a:rect l="l" t="t" r="r" b="b"/>
            <a:pathLst>
              <a:path w="89079" h="89080" extrusionOk="0">
                <a:moveTo>
                  <a:pt x="44541" y="0"/>
                </a:moveTo>
                <a:cubicBezTo>
                  <a:pt x="44541" y="39592"/>
                  <a:pt x="39591" y="44542"/>
                  <a:pt x="0" y="44542"/>
                </a:cubicBezTo>
                <a:cubicBezTo>
                  <a:pt x="39591" y="44542"/>
                  <a:pt x="44541" y="49489"/>
                  <a:pt x="44541" y="89079"/>
                </a:cubicBezTo>
                <a:cubicBezTo>
                  <a:pt x="44541" y="49489"/>
                  <a:pt x="49488" y="44542"/>
                  <a:pt x="89078" y="44542"/>
                </a:cubicBezTo>
                <a:cubicBezTo>
                  <a:pt x="49488" y="44542"/>
                  <a:pt x="44541" y="39592"/>
                  <a:pt x="445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412" name="Google Shape;412;p48">
            <a:extLst>
              <a:ext uri="{FF2B5EF4-FFF2-40B4-BE49-F238E27FC236}">
                <a16:creationId xmlns:a16="http://schemas.microsoft.com/office/drawing/2014/main" id="{709A9A06-31D1-C2CA-0616-D1AA11D83802}"/>
              </a:ext>
            </a:extLst>
          </p:cNvPr>
          <p:cNvCxnSpPr/>
          <p:nvPr/>
        </p:nvCxnSpPr>
        <p:spPr>
          <a:xfrm rot="10800000">
            <a:off x="713300" y="1453900"/>
            <a:ext cx="7721700" cy="0"/>
          </a:xfrm>
          <a:prstGeom prst="straightConnector1">
            <a:avLst/>
          </a:prstGeom>
          <a:noFill/>
          <a:ln w="19050" cap="flat" cmpd="sng">
            <a:solidFill>
              <a:schemeClr val="dk1"/>
            </a:solidFill>
            <a:prstDash val="solid"/>
            <a:round/>
            <a:headEnd type="none" w="med" len="med"/>
            <a:tailEnd type="none" w="med" len="med"/>
          </a:ln>
        </p:spPr>
      </p:cxnSp>
      <p:sp>
        <p:nvSpPr>
          <p:cNvPr id="12" name="Google Shape;378;p47">
            <a:extLst>
              <a:ext uri="{FF2B5EF4-FFF2-40B4-BE49-F238E27FC236}">
                <a16:creationId xmlns:a16="http://schemas.microsoft.com/office/drawing/2014/main" id="{BDAD61BA-D063-5943-9A26-BDCA3422F55F}"/>
              </a:ext>
            </a:extLst>
          </p:cNvPr>
          <p:cNvSpPr txBox="1">
            <a:spLocks/>
          </p:cNvSpPr>
          <p:nvPr/>
        </p:nvSpPr>
        <p:spPr>
          <a:xfrm>
            <a:off x="416858" y="664977"/>
            <a:ext cx="1290917" cy="86965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0" indent="0" algn="ctr"/>
            <a:r>
              <a:rPr lang="en" sz="6000" dirty="0"/>
              <a:t>06</a:t>
            </a:r>
          </a:p>
        </p:txBody>
      </p:sp>
      <p:sp>
        <p:nvSpPr>
          <p:cNvPr id="3" name="Rectangle 2">
            <a:extLst>
              <a:ext uri="{FF2B5EF4-FFF2-40B4-BE49-F238E27FC236}">
                <a16:creationId xmlns:a16="http://schemas.microsoft.com/office/drawing/2014/main" id="{45B8C339-CF32-E99A-6263-95F5F0ED6604}"/>
              </a:ext>
            </a:extLst>
          </p:cNvPr>
          <p:cNvSpPr>
            <a:spLocks noChangeArrowheads="1"/>
          </p:cNvSpPr>
          <p:nvPr/>
        </p:nvSpPr>
        <p:spPr bwMode="auto">
          <a:xfrm>
            <a:off x="3970435" y="2025731"/>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kumimoji="0" lang="en-US" altLang="en-US" b="0" i="0" u="none" strike="noStrike" cap="none" normalizeH="0" baseline="0" dirty="0">
              <a:ln>
                <a:noFill/>
              </a:ln>
              <a:solidFill>
                <a:schemeClr val="tx1"/>
              </a:solidFill>
              <a:effectLst/>
              <a:latin typeface="+mj-lt"/>
              <a:ea typeface="Questrial" pitchFamily="2" charset="0"/>
              <a:cs typeface="Questrial" pitchFamily="2" charset="0"/>
            </a:endParaRPr>
          </a:p>
        </p:txBody>
      </p:sp>
    </p:spTree>
    <p:extLst>
      <p:ext uri="{BB962C8B-B14F-4D97-AF65-F5344CB8AC3E}">
        <p14:creationId xmlns:p14="http://schemas.microsoft.com/office/powerpoint/2010/main" val="2030484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90" name="Google Shape;490;p52"/>
          <p:cNvSpPr/>
          <p:nvPr/>
        </p:nvSpPr>
        <p:spPr>
          <a:xfrm>
            <a:off x="-50" y="4832400"/>
            <a:ext cx="9144000" cy="3240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 name="Picture 4">
            <a:extLst>
              <a:ext uri="{FF2B5EF4-FFF2-40B4-BE49-F238E27FC236}">
                <a16:creationId xmlns:a16="http://schemas.microsoft.com/office/drawing/2014/main" id="{7B2F0398-FD63-A0FA-31D2-BA45349D358A}"/>
              </a:ext>
            </a:extLst>
          </p:cNvPr>
          <p:cNvPicPr>
            <a:picLocks noChangeAspect="1"/>
          </p:cNvPicPr>
          <p:nvPr/>
        </p:nvPicPr>
        <p:blipFill>
          <a:blip r:embed="rId3"/>
          <a:stretch>
            <a:fillRect/>
          </a:stretch>
        </p:blipFill>
        <p:spPr>
          <a:xfrm>
            <a:off x="225870" y="96079"/>
            <a:ext cx="6035866" cy="1979805"/>
          </a:xfrm>
          <a:prstGeom prst="rect">
            <a:avLst/>
          </a:prstGeom>
        </p:spPr>
      </p:pic>
      <p:pic>
        <p:nvPicPr>
          <p:cNvPr id="7" name="Picture 6">
            <a:extLst>
              <a:ext uri="{FF2B5EF4-FFF2-40B4-BE49-F238E27FC236}">
                <a16:creationId xmlns:a16="http://schemas.microsoft.com/office/drawing/2014/main" id="{B0762C42-1DD8-379D-B7E1-174BBF5E9225}"/>
              </a:ext>
            </a:extLst>
          </p:cNvPr>
          <p:cNvPicPr>
            <a:picLocks noChangeAspect="1"/>
          </p:cNvPicPr>
          <p:nvPr/>
        </p:nvPicPr>
        <p:blipFill>
          <a:blip r:embed="rId4"/>
          <a:stretch>
            <a:fillRect/>
          </a:stretch>
        </p:blipFill>
        <p:spPr>
          <a:xfrm>
            <a:off x="634468" y="2151286"/>
            <a:ext cx="3003813" cy="28961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6">
          <a:extLst>
            <a:ext uri="{FF2B5EF4-FFF2-40B4-BE49-F238E27FC236}">
              <a16:creationId xmlns:a16="http://schemas.microsoft.com/office/drawing/2014/main" id="{C1B6AC41-4ABD-DB08-B5BE-CC1B3DE6A002}"/>
            </a:ext>
          </a:extLst>
        </p:cNvPr>
        <p:cNvGrpSpPr/>
        <p:nvPr/>
      </p:nvGrpSpPr>
      <p:grpSpPr>
        <a:xfrm>
          <a:off x="0" y="0"/>
          <a:ext cx="0" cy="0"/>
          <a:chOff x="0" y="0"/>
          <a:chExt cx="0" cy="0"/>
        </a:xfrm>
      </p:grpSpPr>
      <p:cxnSp>
        <p:nvCxnSpPr>
          <p:cNvPr id="467" name="Google Shape;467;p51">
            <a:extLst>
              <a:ext uri="{FF2B5EF4-FFF2-40B4-BE49-F238E27FC236}">
                <a16:creationId xmlns:a16="http://schemas.microsoft.com/office/drawing/2014/main" id="{56B6EE0B-3317-581F-C599-E5FA6D1AC080}"/>
              </a:ext>
            </a:extLst>
          </p:cNvPr>
          <p:cNvCxnSpPr/>
          <p:nvPr/>
        </p:nvCxnSpPr>
        <p:spPr>
          <a:xfrm rot="10800000">
            <a:off x="998875" y="1456726"/>
            <a:ext cx="7431900" cy="0"/>
          </a:xfrm>
          <a:prstGeom prst="straightConnector1">
            <a:avLst/>
          </a:prstGeom>
          <a:noFill/>
          <a:ln w="19050" cap="flat" cmpd="sng">
            <a:solidFill>
              <a:schemeClr val="dk1"/>
            </a:solidFill>
            <a:prstDash val="solid"/>
            <a:round/>
            <a:headEnd type="none" w="med" len="med"/>
            <a:tailEnd type="none" w="med" len="med"/>
          </a:ln>
        </p:spPr>
      </p:cxnSp>
      <p:sp>
        <p:nvSpPr>
          <p:cNvPr id="470" name="Google Shape;470;p51">
            <a:extLst>
              <a:ext uri="{FF2B5EF4-FFF2-40B4-BE49-F238E27FC236}">
                <a16:creationId xmlns:a16="http://schemas.microsoft.com/office/drawing/2014/main" id="{086FB2FD-8BBA-69F4-005A-3980774323DA}"/>
              </a:ext>
            </a:extLst>
          </p:cNvPr>
          <p:cNvSpPr txBox="1">
            <a:spLocks noGrp="1"/>
          </p:cNvSpPr>
          <p:nvPr>
            <p:ph type="title"/>
          </p:nvPr>
        </p:nvSpPr>
        <p:spPr>
          <a:xfrm>
            <a:off x="1557638" y="577427"/>
            <a:ext cx="7704000" cy="73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800" dirty="0"/>
              <a:t>Future Work</a:t>
            </a:r>
            <a:endParaRPr sz="4800" dirty="0"/>
          </a:p>
        </p:txBody>
      </p:sp>
      <p:pic>
        <p:nvPicPr>
          <p:cNvPr id="481" name="Google Shape;481;p51">
            <a:extLst>
              <a:ext uri="{FF2B5EF4-FFF2-40B4-BE49-F238E27FC236}">
                <a16:creationId xmlns:a16="http://schemas.microsoft.com/office/drawing/2014/main" id="{9ADA9007-1937-5883-8999-877A6C14F623}"/>
              </a:ext>
            </a:extLst>
          </p:cNvPr>
          <p:cNvPicPr preferRelativeResize="0"/>
          <p:nvPr/>
        </p:nvPicPr>
        <p:blipFill>
          <a:blip r:embed="rId3">
            <a:alphaModFix/>
          </a:blip>
          <a:stretch>
            <a:fillRect/>
          </a:stretch>
        </p:blipFill>
        <p:spPr>
          <a:xfrm rot="-5400012">
            <a:off x="8426262" y="791978"/>
            <a:ext cx="910424" cy="1439846"/>
          </a:xfrm>
          <a:prstGeom prst="rect">
            <a:avLst/>
          </a:prstGeom>
          <a:noFill/>
          <a:ln>
            <a:noFill/>
          </a:ln>
        </p:spPr>
      </p:pic>
      <p:sp>
        <p:nvSpPr>
          <p:cNvPr id="482" name="Google Shape;482;p51">
            <a:extLst>
              <a:ext uri="{FF2B5EF4-FFF2-40B4-BE49-F238E27FC236}">
                <a16:creationId xmlns:a16="http://schemas.microsoft.com/office/drawing/2014/main" id="{459E8FAD-2ED1-639F-E7EA-7E75C0C8BC3A}"/>
              </a:ext>
            </a:extLst>
          </p:cNvPr>
          <p:cNvSpPr/>
          <p:nvPr/>
        </p:nvSpPr>
        <p:spPr>
          <a:xfrm>
            <a:off x="713225" y="1187070"/>
            <a:ext cx="543159" cy="542943"/>
          </a:xfrm>
          <a:custGeom>
            <a:avLst/>
            <a:gdLst/>
            <a:ahLst/>
            <a:cxnLst/>
            <a:rect l="l" t="t" r="r" b="b"/>
            <a:pathLst>
              <a:path w="89079" h="89080" extrusionOk="0">
                <a:moveTo>
                  <a:pt x="44541" y="0"/>
                </a:moveTo>
                <a:cubicBezTo>
                  <a:pt x="44541" y="39592"/>
                  <a:pt x="39591" y="44542"/>
                  <a:pt x="0" y="44542"/>
                </a:cubicBezTo>
                <a:cubicBezTo>
                  <a:pt x="39591" y="44542"/>
                  <a:pt x="44541" y="49489"/>
                  <a:pt x="44541" y="89079"/>
                </a:cubicBezTo>
                <a:cubicBezTo>
                  <a:pt x="44541" y="49489"/>
                  <a:pt x="49488" y="44542"/>
                  <a:pt x="89078" y="44542"/>
                </a:cubicBezTo>
                <a:cubicBezTo>
                  <a:pt x="49488" y="44542"/>
                  <a:pt x="44541" y="39592"/>
                  <a:pt x="445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Rectangle 2">
            <a:extLst>
              <a:ext uri="{FF2B5EF4-FFF2-40B4-BE49-F238E27FC236}">
                <a16:creationId xmlns:a16="http://schemas.microsoft.com/office/drawing/2014/main" id="{74A0E24B-2BF3-BF5C-A5AD-947CA87E1E8B}"/>
              </a:ext>
            </a:extLst>
          </p:cNvPr>
          <p:cNvSpPr>
            <a:spLocks noGrp="1" noChangeArrowheads="1"/>
          </p:cNvSpPr>
          <p:nvPr>
            <p:ph type="subTitle" idx="1"/>
          </p:nvPr>
        </p:nvSpPr>
        <p:spPr bwMode="auto">
          <a:xfrm>
            <a:off x="618185" y="1827023"/>
            <a:ext cx="787543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IN" sz="2400" dirty="0"/>
              <a:t>Model Optimization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IN" sz="2400" dirty="0"/>
              <a:t>Real-time Classification</a:t>
            </a:r>
            <a:endParaRPr kumimoji="0" lang="en-US" altLang="en-US" sz="1800" b="0" i="0" u="none" strike="noStrike" cap="none" normalizeH="0" baseline="0" dirty="0">
              <a:ln>
                <a:noFill/>
              </a:ln>
              <a:solidFill>
                <a:schemeClr val="tx1"/>
              </a:solidFill>
              <a:effectLst/>
              <a:latin typeface="+mj-l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lang="en-US" altLang="en-US" sz="1800" dirty="0">
              <a:solidFill>
                <a:schemeClr val="tx1"/>
              </a:solidFill>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IN" sz="2400" dirty="0"/>
              <a:t>Exploring More Languages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Google Shape;378;p47">
            <a:extLst>
              <a:ext uri="{FF2B5EF4-FFF2-40B4-BE49-F238E27FC236}">
                <a16:creationId xmlns:a16="http://schemas.microsoft.com/office/drawing/2014/main" id="{0D25EDA0-24E4-2BDF-B7A9-9AACC5605ABB}"/>
              </a:ext>
            </a:extLst>
          </p:cNvPr>
          <p:cNvSpPr txBox="1">
            <a:spLocks/>
          </p:cNvSpPr>
          <p:nvPr/>
        </p:nvSpPr>
        <p:spPr>
          <a:xfrm>
            <a:off x="416858" y="664977"/>
            <a:ext cx="1290917" cy="86965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0" indent="0" algn="ctr"/>
            <a:r>
              <a:rPr lang="en" sz="6000" dirty="0"/>
              <a:t>07</a:t>
            </a:r>
          </a:p>
        </p:txBody>
      </p:sp>
    </p:spTree>
    <p:extLst>
      <p:ext uri="{BB962C8B-B14F-4D97-AF65-F5344CB8AC3E}">
        <p14:creationId xmlns:p14="http://schemas.microsoft.com/office/powerpoint/2010/main" val="13909044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66">
          <a:extLst>
            <a:ext uri="{FF2B5EF4-FFF2-40B4-BE49-F238E27FC236}">
              <a16:creationId xmlns:a16="http://schemas.microsoft.com/office/drawing/2014/main" id="{1D1E724B-EAEC-F8A7-F1EE-7604BC01489D}"/>
            </a:ext>
          </a:extLst>
        </p:cNvPr>
        <p:cNvGrpSpPr/>
        <p:nvPr/>
      </p:nvGrpSpPr>
      <p:grpSpPr>
        <a:xfrm>
          <a:off x="0" y="0"/>
          <a:ext cx="0" cy="0"/>
          <a:chOff x="0" y="0"/>
          <a:chExt cx="0" cy="0"/>
        </a:xfrm>
      </p:grpSpPr>
      <p:cxnSp>
        <p:nvCxnSpPr>
          <p:cNvPr id="467" name="Google Shape;467;p51">
            <a:extLst>
              <a:ext uri="{FF2B5EF4-FFF2-40B4-BE49-F238E27FC236}">
                <a16:creationId xmlns:a16="http://schemas.microsoft.com/office/drawing/2014/main" id="{9C985085-E7B8-22EF-6477-0E93F02F91FA}"/>
              </a:ext>
            </a:extLst>
          </p:cNvPr>
          <p:cNvCxnSpPr/>
          <p:nvPr/>
        </p:nvCxnSpPr>
        <p:spPr>
          <a:xfrm rot="10800000">
            <a:off x="998875" y="1456726"/>
            <a:ext cx="7431900" cy="0"/>
          </a:xfrm>
          <a:prstGeom prst="straightConnector1">
            <a:avLst/>
          </a:prstGeom>
          <a:noFill/>
          <a:ln w="19050" cap="flat" cmpd="sng">
            <a:solidFill>
              <a:schemeClr val="dk1"/>
            </a:solidFill>
            <a:prstDash val="solid"/>
            <a:round/>
            <a:headEnd type="none" w="med" len="med"/>
            <a:tailEnd type="none" w="med" len="med"/>
          </a:ln>
        </p:spPr>
      </p:cxnSp>
      <p:sp>
        <p:nvSpPr>
          <p:cNvPr id="470" name="Google Shape;470;p51">
            <a:extLst>
              <a:ext uri="{FF2B5EF4-FFF2-40B4-BE49-F238E27FC236}">
                <a16:creationId xmlns:a16="http://schemas.microsoft.com/office/drawing/2014/main" id="{104F350C-053F-554C-C77F-D42F0296571D}"/>
              </a:ext>
            </a:extLst>
          </p:cNvPr>
          <p:cNvSpPr txBox="1">
            <a:spLocks noGrp="1"/>
          </p:cNvSpPr>
          <p:nvPr>
            <p:ph type="title"/>
          </p:nvPr>
        </p:nvSpPr>
        <p:spPr>
          <a:xfrm>
            <a:off x="1557638" y="577427"/>
            <a:ext cx="7704000" cy="73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800" dirty="0"/>
              <a:t>Conclusion</a:t>
            </a:r>
            <a:endParaRPr sz="4800" dirty="0"/>
          </a:p>
        </p:txBody>
      </p:sp>
      <p:pic>
        <p:nvPicPr>
          <p:cNvPr id="481" name="Google Shape;481;p51">
            <a:extLst>
              <a:ext uri="{FF2B5EF4-FFF2-40B4-BE49-F238E27FC236}">
                <a16:creationId xmlns:a16="http://schemas.microsoft.com/office/drawing/2014/main" id="{A6154749-953D-250B-D956-BE1095D07BD2}"/>
              </a:ext>
            </a:extLst>
          </p:cNvPr>
          <p:cNvPicPr preferRelativeResize="0"/>
          <p:nvPr/>
        </p:nvPicPr>
        <p:blipFill>
          <a:blip r:embed="rId3">
            <a:alphaModFix/>
          </a:blip>
          <a:stretch>
            <a:fillRect/>
          </a:stretch>
        </p:blipFill>
        <p:spPr>
          <a:xfrm rot="-5400012">
            <a:off x="8426262" y="791978"/>
            <a:ext cx="910424" cy="1439846"/>
          </a:xfrm>
          <a:prstGeom prst="rect">
            <a:avLst/>
          </a:prstGeom>
          <a:noFill/>
          <a:ln>
            <a:noFill/>
          </a:ln>
        </p:spPr>
      </p:pic>
      <p:sp>
        <p:nvSpPr>
          <p:cNvPr id="482" name="Google Shape;482;p51">
            <a:extLst>
              <a:ext uri="{FF2B5EF4-FFF2-40B4-BE49-F238E27FC236}">
                <a16:creationId xmlns:a16="http://schemas.microsoft.com/office/drawing/2014/main" id="{37CDF43B-04F2-E8E7-2038-1CE519BD592C}"/>
              </a:ext>
            </a:extLst>
          </p:cNvPr>
          <p:cNvSpPr/>
          <p:nvPr/>
        </p:nvSpPr>
        <p:spPr>
          <a:xfrm>
            <a:off x="713225" y="1187070"/>
            <a:ext cx="543159" cy="542943"/>
          </a:xfrm>
          <a:custGeom>
            <a:avLst/>
            <a:gdLst/>
            <a:ahLst/>
            <a:cxnLst/>
            <a:rect l="l" t="t" r="r" b="b"/>
            <a:pathLst>
              <a:path w="89079" h="89080" extrusionOk="0">
                <a:moveTo>
                  <a:pt x="44541" y="0"/>
                </a:moveTo>
                <a:cubicBezTo>
                  <a:pt x="44541" y="39592"/>
                  <a:pt x="39591" y="44542"/>
                  <a:pt x="0" y="44542"/>
                </a:cubicBezTo>
                <a:cubicBezTo>
                  <a:pt x="39591" y="44542"/>
                  <a:pt x="44541" y="49489"/>
                  <a:pt x="44541" y="89079"/>
                </a:cubicBezTo>
                <a:cubicBezTo>
                  <a:pt x="44541" y="49489"/>
                  <a:pt x="49488" y="44542"/>
                  <a:pt x="89078" y="44542"/>
                </a:cubicBezTo>
                <a:cubicBezTo>
                  <a:pt x="49488" y="44542"/>
                  <a:pt x="44541" y="39592"/>
                  <a:pt x="445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Rectangle 2">
            <a:extLst>
              <a:ext uri="{FF2B5EF4-FFF2-40B4-BE49-F238E27FC236}">
                <a16:creationId xmlns:a16="http://schemas.microsoft.com/office/drawing/2014/main" id="{46528AF9-8FAA-CBA5-2AC3-E5AA5A0EE5BD}"/>
              </a:ext>
            </a:extLst>
          </p:cNvPr>
          <p:cNvSpPr>
            <a:spLocks noGrp="1" noChangeArrowheads="1"/>
          </p:cNvSpPr>
          <p:nvPr>
            <p:ph type="subTitle" idx="1"/>
          </p:nvPr>
        </p:nvSpPr>
        <p:spPr bwMode="auto">
          <a:xfrm>
            <a:off x="618185" y="1411523"/>
            <a:ext cx="7875431"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sz="1600" dirty="0">
                <a:latin typeface="+mj-lt"/>
              </a:rPr>
              <a:t>This project focuses on detecting abusive language in text using advanced machine learning models, specifically fine-tuned </a:t>
            </a:r>
            <a:r>
              <a:rPr lang="en-US" sz="1600" b="1" dirty="0">
                <a:latin typeface="+mj-lt"/>
              </a:rPr>
              <a:t>MuRIL</a:t>
            </a:r>
            <a:r>
              <a:rPr lang="en-US" sz="1600" dirty="0">
                <a:latin typeface="+mj-lt"/>
              </a:rPr>
              <a:t>, to improve accuracy and reliability.</a:t>
            </a:r>
            <a:endParaRPr kumimoji="0" lang="en-US" altLang="en-US" sz="1600" b="0" i="0" u="none" strike="noStrike" cap="none" normalizeH="0" baseline="0" dirty="0">
              <a:ln>
                <a:noFill/>
              </a:ln>
              <a:solidFill>
                <a:schemeClr val="tx1"/>
              </a:solidFill>
              <a:effectLst/>
              <a:latin typeface="+mj-l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lang="en-US" altLang="en-US" sz="1800" dirty="0">
              <a:solidFill>
                <a:schemeClr val="tx1"/>
              </a:solidFill>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sz="1600" dirty="0">
                <a:latin typeface="+mj-lt"/>
              </a:rPr>
              <a:t>By using models like </a:t>
            </a:r>
            <a:r>
              <a:rPr lang="en-US" sz="1600" b="1" dirty="0">
                <a:latin typeface="+mj-lt"/>
              </a:rPr>
              <a:t>MuRIL</a:t>
            </a:r>
            <a:r>
              <a:rPr lang="en-US" sz="1600" dirty="0">
                <a:latin typeface="+mj-lt"/>
              </a:rPr>
              <a:t>, the system can effectively identify abusive content in different text sources, making the detection more reliable.</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600" b="0" i="0" u="none" strike="noStrike" cap="none" normalizeH="0" baseline="0" dirty="0">
              <a:ln>
                <a:noFill/>
              </a:ln>
              <a:solidFill>
                <a:schemeClr val="tx1"/>
              </a:solidFill>
              <a:effectLst/>
              <a:latin typeface="+mj-l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lang="en-US" altLang="en-US" sz="1600" dirty="0">
              <a:solidFill>
                <a:schemeClr val="tx1"/>
              </a:solidFill>
              <a:latin typeface="+mj-l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sz="1600" dirty="0">
                <a:latin typeface="+mj-lt"/>
              </a:rPr>
              <a:t>Ongoing research and improvements are needed to help the model handle different datasets, work in real-time, and adapt to new abusive language patterns.</a:t>
            </a:r>
            <a:endParaRPr kumimoji="0" lang="en-US" altLang="en-US" sz="160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Google Shape;378;p47">
            <a:extLst>
              <a:ext uri="{FF2B5EF4-FFF2-40B4-BE49-F238E27FC236}">
                <a16:creationId xmlns:a16="http://schemas.microsoft.com/office/drawing/2014/main" id="{0FFC1B4A-39FE-7B0D-5E78-52FAAAFB13D8}"/>
              </a:ext>
            </a:extLst>
          </p:cNvPr>
          <p:cNvSpPr txBox="1">
            <a:spLocks/>
          </p:cNvSpPr>
          <p:nvPr/>
        </p:nvSpPr>
        <p:spPr>
          <a:xfrm>
            <a:off x="416858" y="664977"/>
            <a:ext cx="1290917" cy="86965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1pPr>
            <a:lvl2pPr marL="914400" marR="0" lvl="1" indent="-317500" algn="ctr" rtl="0">
              <a:lnSpc>
                <a:spcPct val="100000"/>
              </a:lnSpc>
              <a:spcBef>
                <a:spcPts val="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2pPr>
            <a:lvl3pPr marL="1371600" marR="0" lvl="2"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3pPr>
            <a:lvl4pPr marL="1828800" marR="0" lvl="3"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4pPr>
            <a:lvl5pPr marL="2286000" marR="0" lvl="4"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5pPr>
            <a:lvl6pPr marL="2743200" marR="0" lvl="5"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6pPr>
            <a:lvl7pPr marL="3200400" marR="0" lvl="6"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7pPr>
            <a:lvl8pPr marL="3657600" marR="0" lvl="7" indent="-317500" algn="ctr" rtl="0">
              <a:lnSpc>
                <a:spcPct val="100000"/>
              </a:lnSpc>
              <a:spcBef>
                <a:spcPts val="1600"/>
              </a:spcBef>
              <a:spcAft>
                <a:spcPts val="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8pPr>
            <a:lvl9pPr marL="4114800" marR="0" lvl="8" indent="-317500" algn="ctr" rtl="0">
              <a:lnSpc>
                <a:spcPct val="100000"/>
              </a:lnSpc>
              <a:spcBef>
                <a:spcPts val="1600"/>
              </a:spcBef>
              <a:spcAft>
                <a:spcPts val="1600"/>
              </a:spcAft>
              <a:buClr>
                <a:schemeClr val="dk1"/>
              </a:buClr>
              <a:buSzPts val="1400"/>
              <a:buFont typeface="Questrial"/>
              <a:buNone/>
              <a:defRPr sz="1400" b="0" i="0" u="none" strike="noStrike" cap="none">
                <a:solidFill>
                  <a:schemeClr val="dk1"/>
                </a:solidFill>
                <a:latin typeface="Questrial"/>
                <a:ea typeface="Questrial"/>
                <a:cs typeface="Questrial"/>
                <a:sym typeface="Questrial"/>
              </a:defRPr>
            </a:lvl9pPr>
          </a:lstStyle>
          <a:p>
            <a:pPr marL="0" indent="0" algn="ctr"/>
            <a:r>
              <a:rPr lang="en" sz="6000" dirty="0"/>
              <a:t>08</a:t>
            </a:r>
          </a:p>
        </p:txBody>
      </p:sp>
    </p:spTree>
    <p:extLst>
      <p:ext uri="{BB962C8B-B14F-4D97-AF65-F5344CB8AC3E}">
        <p14:creationId xmlns:p14="http://schemas.microsoft.com/office/powerpoint/2010/main" val="2226418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6">
          <a:extLst>
            <a:ext uri="{FF2B5EF4-FFF2-40B4-BE49-F238E27FC236}">
              <a16:creationId xmlns:a16="http://schemas.microsoft.com/office/drawing/2014/main" id="{BA8D9A7C-5596-5143-BFAD-24844C0DEFEE}"/>
            </a:ext>
          </a:extLst>
        </p:cNvPr>
        <p:cNvGrpSpPr/>
        <p:nvPr/>
      </p:nvGrpSpPr>
      <p:grpSpPr>
        <a:xfrm>
          <a:off x="0" y="0"/>
          <a:ext cx="0" cy="0"/>
          <a:chOff x="0" y="0"/>
          <a:chExt cx="0" cy="0"/>
        </a:xfrm>
      </p:grpSpPr>
      <p:sp>
        <p:nvSpPr>
          <p:cNvPr id="470" name="Google Shape;470;p51">
            <a:extLst>
              <a:ext uri="{FF2B5EF4-FFF2-40B4-BE49-F238E27FC236}">
                <a16:creationId xmlns:a16="http://schemas.microsoft.com/office/drawing/2014/main" id="{AB8DA669-BA12-C5F3-63D8-56265CE9CF47}"/>
              </a:ext>
            </a:extLst>
          </p:cNvPr>
          <p:cNvSpPr txBox="1">
            <a:spLocks noGrp="1"/>
          </p:cNvSpPr>
          <p:nvPr>
            <p:ph type="title"/>
          </p:nvPr>
        </p:nvSpPr>
        <p:spPr>
          <a:xfrm>
            <a:off x="1050672" y="100887"/>
            <a:ext cx="7704000" cy="73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dirty="0"/>
              <a:t>References</a:t>
            </a:r>
            <a:r>
              <a:rPr lang="en" sz="4800" dirty="0"/>
              <a:t> </a:t>
            </a:r>
            <a:endParaRPr sz="4800" dirty="0"/>
          </a:p>
        </p:txBody>
      </p:sp>
      <p:pic>
        <p:nvPicPr>
          <p:cNvPr id="481" name="Google Shape;481;p51">
            <a:extLst>
              <a:ext uri="{FF2B5EF4-FFF2-40B4-BE49-F238E27FC236}">
                <a16:creationId xmlns:a16="http://schemas.microsoft.com/office/drawing/2014/main" id="{E7FF6B99-D43D-DECB-578D-ACB51B847635}"/>
              </a:ext>
            </a:extLst>
          </p:cNvPr>
          <p:cNvPicPr preferRelativeResize="0"/>
          <p:nvPr/>
        </p:nvPicPr>
        <p:blipFill>
          <a:blip r:embed="rId3">
            <a:alphaModFix/>
          </a:blip>
          <a:stretch>
            <a:fillRect/>
          </a:stretch>
        </p:blipFill>
        <p:spPr>
          <a:xfrm rot="-5400012">
            <a:off x="8426262" y="791978"/>
            <a:ext cx="910424" cy="1439846"/>
          </a:xfrm>
          <a:prstGeom prst="rect">
            <a:avLst/>
          </a:prstGeom>
          <a:noFill/>
          <a:ln>
            <a:noFill/>
          </a:ln>
        </p:spPr>
      </p:pic>
      <p:sp>
        <p:nvSpPr>
          <p:cNvPr id="25" name="Rectangle 2">
            <a:extLst>
              <a:ext uri="{FF2B5EF4-FFF2-40B4-BE49-F238E27FC236}">
                <a16:creationId xmlns:a16="http://schemas.microsoft.com/office/drawing/2014/main" id="{19215AAF-6D7B-A194-1397-33F648C171FB}"/>
              </a:ext>
            </a:extLst>
          </p:cNvPr>
          <p:cNvSpPr>
            <a:spLocks noGrp="1" noChangeArrowheads="1"/>
          </p:cNvSpPr>
          <p:nvPr>
            <p:ph type="subTitle" idx="1"/>
          </p:nvPr>
        </p:nvSpPr>
        <p:spPr bwMode="auto">
          <a:xfrm>
            <a:off x="650383" y="854215"/>
            <a:ext cx="7843233" cy="4001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b="1" dirty="0">
                <a:latin typeface="+mj-lt"/>
              </a:rPr>
              <a:t>Ruder, S.</a:t>
            </a:r>
            <a:r>
              <a:rPr lang="en-US" dirty="0">
                <a:latin typeface="+mj-lt"/>
              </a:rPr>
              <a:t> (2019). </a:t>
            </a:r>
            <a:r>
              <a:rPr lang="en-US" i="1" dirty="0">
                <a:latin typeface="+mj-lt"/>
              </a:rPr>
              <a:t>Pre-trained Language Models: A Survey</a:t>
            </a:r>
            <a:r>
              <a:rPr lang="en-US" dirty="0">
                <a:latin typeface="+mj-lt"/>
              </a:rPr>
              <a:t>. </a:t>
            </a:r>
            <a:r>
              <a:rPr lang="en-US" dirty="0" err="1">
                <a:latin typeface="+mj-lt"/>
              </a:rPr>
              <a:t>arXiv</a:t>
            </a:r>
            <a:r>
              <a:rPr lang="en-US" dirty="0">
                <a:latin typeface="+mj-lt"/>
              </a:rPr>
              <a:t> preprint arXiv:1907.11692. Retrieved from </a:t>
            </a:r>
            <a:r>
              <a:rPr lang="en-US" dirty="0">
                <a:latin typeface="+mj-lt"/>
                <a:hlinkClick r:id="rId4"/>
              </a:rPr>
              <a:t>https://arxiv.org/abs/1907.11692</a:t>
            </a:r>
            <a:endParaRPr kumimoji="0" lang="en-US" altLang="en-US" b="0" i="0" u="none" strike="noStrike" cap="none" normalizeH="0" baseline="0" dirty="0">
              <a:ln>
                <a:noFill/>
              </a:ln>
              <a:solidFill>
                <a:schemeClr val="tx1"/>
              </a:solidFill>
              <a:effectLst/>
              <a:latin typeface="+mj-l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IN" b="1" dirty="0">
                <a:latin typeface="+mj-lt"/>
              </a:rPr>
              <a:t>Sanh, V., Debut, L., </a:t>
            </a:r>
            <a:r>
              <a:rPr lang="en-IN" b="1" dirty="0" err="1">
                <a:latin typeface="+mj-lt"/>
              </a:rPr>
              <a:t>Chaumond</a:t>
            </a:r>
            <a:r>
              <a:rPr lang="en-IN" b="1" dirty="0">
                <a:latin typeface="+mj-lt"/>
              </a:rPr>
              <a:t>, J., &amp; Wolf, T.</a:t>
            </a:r>
            <a:r>
              <a:rPr lang="en-IN" dirty="0">
                <a:latin typeface="+mj-lt"/>
              </a:rPr>
              <a:t> (2019). </a:t>
            </a:r>
            <a:r>
              <a:rPr lang="en-IN" i="1" dirty="0">
                <a:latin typeface="+mj-lt"/>
              </a:rPr>
              <a:t>MuRIL: Multilingual Representations for Indian Languages</a:t>
            </a:r>
            <a:r>
              <a:rPr lang="en-IN" dirty="0">
                <a:latin typeface="+mj-lt"/>
              </a:rPr>
              <a:t>. </a:t>
            </a:r>
            <a:r>
              <a:rPr lang="en-IN" dirty="0" err="1">
                <a:latin typeface="+mj-lt"/>
              </a:rPr>
              <a:t>arXiv</a:t>
            </a:r>
            <a:r>
              <a:rPr lang="en-IN" dirty="0">
                <a:latin typeface="+mj-lt"/>
              </a:rPr>
              <a:t> preprint arXiv:2003.11080. Retrieved from </a:t>
            </a:r>
            <a:r>
              <a:rPr lang="en-IN" dirty="0">
                <a:latin typeface="+mj-lt"/>
                <a:hlinkClick r:id="rId5"/>
              </a:rPr>
              <a:t>https://arxiv.org/abs/2003.11080</a:t>
            </a:r>
            <a:endParaRPr kumimoji="0" lang="en-US" altLang="en-US" b="0" i="0" u="none" strike="noStrike" cap="none" normalizeH="0" baseline="0" dirty="0">
              <a:ln>
                <a:noFill/>
              </a:ln>
              <a:solidFill>
                <a:schemeClr val="tx1"/>
              </a:solidFill>
              <a:effectLst/>
              <a:latin typeface="+mj-l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lang="en-US" altLang="en-US" sz="1800" dirty="0">
              <a:solidFill>
                <a:schemeClr val="tx1"/>
              </a:solidFill>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b="1" dirty="0">
                <a:latin typeface="+mj-lt"/>
              </a:rPr>
              <a:t>Zhang, Y., &amp; Wallace, B. C.</a:t>
            </a:r>
            <a:r>
              <a:rPr lang="en-US" dirty="0">
                <a:latin typeface="+mj-lt"/>
              </a:rPr>
              <a:t> (2015). </a:t>
            </a:r>
            <a:r>
              <a:rPr lang="en-US" i="1" dirty="0">
                <a:latin typeface="+mj-lt"/>
              </a:rPr>
              <a:t>A Sensitivity Analysis of (and Practitioners' Guide to) Convolutional Neural Networks for Sentence Classification</a:t>
            </a:r>
            <a:r>
              <a:rPr lang="en-US" dirty="0">
                <a:latin typeface="+mj-lt"/>
              </a:rPr>
              <a:t>. In Proceedings of the 8th International Conference on Learning Representations (ICLR 2015). Retrieved from </a:t>
            </a:r>
            <a:r>
              <a:rPr lang="en-US" dirty="0">
                <a:latin typeface="+mj-lt"/>
                <a:hlinkClick r:id="rId6"/>
              </a:rPr>
              <a:t>https://openreview.net/forum?id=3P_XAs61</a:t>
            </a:r>
            <a:endParaRPr lang="en-US" dirty="0">
              <a:latin typeface="+mj-l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b="0" i="0" u="none" strike="noStrike" cap="none" normalizeH="0" baseline="0" dirty="0">
              <a:ln>
                <a:noFill/>
              </a:ln>
              <a:solidFill>
                <a:schemeClr val="tx1"/>
              </a:solidFill>
              <a:effectLst/>
              <a:latin typeface="+mj-l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b="1" dirty="0">
                <a:latin typeface="+mj-lt"/>
              </a:rPr>
              <a:t>Chakravarthi, P., &amp; Saha, S.</a:t>
            </a:r>
            <a:r>
              <a:rPr lang="en-US" dirty="0">
                <a:latin typeface="+mj-lt"/>
              </a:rPr>
              <a:t> (2022). </a:t>
            </a:r>
            <a:r>
              <a:rPr lang="en-US" i="1" dirty="0">
                <a:latin typeface="+mj-lt"/>
              </a:rPr>
              <a:t>A Survey on Abusive Language Detection in Social Media Texts</a:t>
            </a:r>
            <a:r>
              <a:rPr lang="en-US" dirty="0">
                <a:latin typeface="+mj-lt"/>
              </a:rPr>
              <a:t>. In 2022 IEEE 17th International Conference on Intelligent Systems (IS). IEEE. DOI: 10.1109/IS56434.2022.9785879</a:t>
            </a: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301666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86">
          <a:extLst>
            <a:ext uri="{FF2B5EF4-FFF2-40B4-BE49-F238E27FC236}">
              <a16:creationId xmlns:a16="http://schemas.microsoft.com/office/drawing/2014/main" id="{8C35DFEC-441E-FF43-2F32-E9F8618BB8AB}"/>
            </a:ext>
          </a:extLst>
        </p:cNvPr>
        <p:cNvGrpSpPr/>
        <p:nvPr/>
      </p:nvGrpSpPr>
      <p:grpSpPr>
        <a:xfrm>
          <a:off x="0" y="0"/>
          <a:ext cx="0" cy="0"/>
          <a:chOff x="0" y="0"/>
          <a:chExt cx="0" cy="0"/>
        </a:xfrm>
      </p:grpSpPr>
      <p:sp>
        <p:nvSpPr>
          <p:cNvPr id="490" name="Google Shape;490;p52">
            <a:extLst>
              <a:ext uri="{FF2B5EF4-FFF2-40B4-BE49-F238E27FC236}">
                <a16:creationId xmlns:a16="http://schemas.microsoft.com/office/drawing/2014/main" id="{67286821-4E11-907F-92FE-61D7168CB68A}"/>
              </a:ext>
            </a:extLst>
          </p:cNvPr>
          <p:cNvSpPr/>
          <p:nvPr/>
        </p:nvSpPr>
        <p:spPr>
          <a:xfrm>
            <a:off x="-50" y="4832400"/>
            <a:ext cx="9144000" cy="3240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itle 3">
            <a:extLst>
              <a:ext uri="{FF2B5EF4-FFF2-40B4-BE49-F238E27FC236}">
                <a16:creationId xmlns:a16="http://schemas.microsoft.com/office/drawing/2014/main" id="{30FC5184-70DC-1FE7-1BE3-67220BF80740}"/>
              </a:ext>
            </a:extLst>
          </p:cNvPr>
          <p:cNvSpPr>
            <a:spLocks noGrp="1"/>
          </p:cNvSpPr>
          <p:nvPr>
            <p:ph type="title"/>
          </p:nvPr>
        </p:nvSpPr>
        <p:spPr>
          <a:xfrm>
            <a:off x="579549" y="418563"/>
            <a:ext cx="7564501" cy="4128850"/>
          </a:xfrm>
        </p:spPr>
        <p:txBody>
          <a:bodyPr/>
          <a:lstStyle/>
          <a:p>
            <a:r>
              <a:rPr lang="en-US" dirty="0"/>
              <a:t>Thank You !</a:t>
            </a:r>
            <a:endParaRPr lang="en-IN" dirty="0"/>
          </a:p>
        </p:txBody>
      </p:sp>
    </p:spTree>
    <p:extLst>
      <p:ext uri="{BB962C8B-B14F-4D97-AF65-F5344CB8AC3E}">
        <p14:creationId xmlns:p14="http://schemas.microsoft.com/office/powerpoint/2010/main" val="1987030367"/>
      </p:ext>
    </p:extLst>
  </p:cSld>
  <p:clrMapOvr>
    <a:masterClrMapping/>
  </p:clrMapOvr>
</p:sld>
</file>

<file path=ppt/theme/theme1.xml><?xml version="1.0" encoding="utf-8"?>
<a:theme xmlns:a="http://schemas.openxmlformats.org/drawingml/2006/main" name="Prevention of Domestic Violence by Slidesgo">
  <a:themeElements>
    <a:clrScheme name="Simple Light">
      <a:dk1>
        <a:srgbClr val="000000"/>
      </a:dk1>
      <a:lt1>
        <a:srgbClr val="FAFAFA"/>
      </a:lt1>
      <a:dk2>
        <a:srgbClr val="800E13"/>
      </a:dk2>
      <a:lt2>
        <a:srgbClr val="FFFFFF"/>
      </a:lt2>
      <a:accent1>
        <a:srgbClr val="FFFFFF"/>
      </a:accent1>
      <a:accent2>
        <a:srgbClr val="FFFFFF"/>
      </a:accent2>
      <a:accent3>
        <a:srgbClr val="FFFFFF"/>
      </a:accent3>
      <a:accent4>
        <a:srgbClr val="FFFFFF"/>
      </a:accent4>
      <a:accent5>
        <a:srgbClr val="FFFFFF"/>
      </a:accent5>
      <a:accent6>
        <a:srgbClr val="FFFFFF"/>
      </a:accent6>
      <a:hlink>
        <a:srgbClr val="25090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264</TotalTime>
  <Words>850</Words>
  <Application>Microsoft Office PowerPoint</Application>
  <PresentationFormat>On-screen Show (16:9)</PresentationFormat>
  <Paragraphs>93</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Anaheim</vt:lpstr>
      <vt:lpstr>Archivo Black</vt:lpstr>
      <vt:lpstr>Arial</vt:lpstr>
      <vt:lpstr>Bebas Neue</vt:lpstr>
      <vt:lpstr>Questrial</vt:lpstr>
      <vt:lpstr>Prevention of Domestic Violence by Slidesgo</vt:lpstr>
      <vt:lpstr>Abusive Malayalam Text targeting Women on Social Media (YouTube comments) </vt:lpstr>
      <vt:lpstr>Table of contents</vt:lpstr>
      <vt:lpstr>Introduction</vt:lpstr>
      <vt:lpstr>Literature Review</vt:lpstr>
      <vt:lpstr>   Problem Statement</vt:lpstr>
      <vt:lpstr>Objectives</vt:lpstr>
      <vt:lpstr>Methodology</vt:lpstr>
      <vt:lpstr>Methodology</vt:lpstr>
      <vt:lpstr>Results</vt:lpstr>
      <vt:lpstr>PowerPoint Presentation</vt:lpstr>
      <vt:lpstr>Future Work</vt:lpstr>
      <vt:lpstr>Conclusion</vt:lpstr>
      <vt:lpstr>References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Siya shahin</cp:lastModifiedBy>
  <cp:revision>5</cp:revision>
  <dcterms:modified xsi:type="dcterms:W3CDTF">2025-04-28T07:06:29Z</dcterms:modified>
</cp:coreProperties>
</file>